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3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4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5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6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7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076f7574745a1" /><Relationship Type="http://schemas.openxmlformats.org/officeDocument/2006/relationships/extended-properties" Target="/docProps/app.xml" Id="R9b1befbde5734845" /><Relationship Type="http://schemas.openxmlformats.org/officeDocument/2006/relationships/officeDocument" Target="/ppt/presentation.xml" Id="Rf1daf1d91288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a13ef66c542b9"/>
  </p:sldMasterIdLst>
  <p:notesMasterIdLst>
    <p:notesMasterId xmlns:r="http://schemas.openxmlformats.org/officeDocument/2006/relationships" r:id="Re12e03720bce422b"/>
  </p:notesMasterIdLst>
  <p:sldIdLst>
    <p:sldId xmlns:r="http://schemas.openxmlformats.org/officeDocument/2006/relationships" id="256" r:id="Re8da79c8608c41b1"/>
    <p:sldId xmlns:r="http://schemas.openxmlformats.org/officeDocument/2006/relationships" id="257" r:id="R6cfef53712094d1a"/>
    <p:sldId xmlns:r="http://schemas.openxmlformats.org/officeDocument/2006/relationships" id="258" r:id="R19ba3980d22546fa"/>
    <p:sldId xmlns:r="http://schemas.openxmlformats.org/officeDocument/2006/relationships" id="259" r:id="Re54ce3252a1f4cd9"/>
    <p:sldId xmlns:r="http://schemas.openxmlformats.org/officeDocument/2006/relationships" id="260" r:id="Rc9c6b4b101a24b37"/>
    <p:sldId xmlns:r="http://schemas.openxmlformats.org/officeDocument/2006/relationships" id="261" r:id="Reeef449ad9e94f6e"/>
    <p:sldId xmlns:r="http://schemas.openxmlformats.org/officeDocument/2006/relationships" id="262" r:id="Re2868cb129454b3b"/>
    <p:sldId xmlns:r="http://schemas.openxmlformats.org/officeDocument/2006/relationships" id="263" r:id="R09789aa58b8a4376"/>
    <p:sldId xmlns:r="http://schemas.openxmlformats.org/officeDocument/2006/relationships" id="264" r:id="Rc530c98f0b6d426c"/>
    <p:sldId xmlns:r="http://schemas.openxmlformats.org/officeDocument/2006/relationships" id="265" r:id="R3f56426f1b5d40c6"/>
    <p:sldId xmlns:r="http://schemas.openxmlformats.org/officeDocument/2006/relationships" id="266" r:id="R6292422de672418f"/>
    <p:sldId xmlns:r="http://schemas.openxmlformats.org/officeDocument/2006/relationships" id="267" r:id="Rd8f0494f60dd4202"/>
    <p:sldId xmlns:r="http://schemas.openxmlformats.org/officeDocument/2006/relationships" id="268" r:id="R5f32503ea63c44dd"/>
    <p:sldId xmlns:r="http://schemas.openxmlformats.org/officeDocument/2006/relationships" id="269" r:id="R6832545d5c8a44f2"/>
    <p:sldId xmlns:r="http://schemas.openxmlformats.org/officeDocument/2006/relationships" id="270" r:id="Rd55019a54189469a"/>
    <p:sldId xmlns:r="http://schemas.openxmlformats.org/officeDocument/2006/relationships" id="271" r:id="Re10b61139de647a9"/>
    <p:sldId xmlns:r="http://schemas.openxmlformats.org/officeDocument/2006/relationships" id="272" r:id="R3b80c80518044af2"/>
    <p:sldId xmlns:r="http://schemas.openxmlformats.org/officeDocument/2006/relationships" id="273" r:id="R74295def18e84d1a"/>
    <p:sldId xmlns:r="http://schemas.openxmlformats.org/officeDocument/2006/relationships" id="274" r:id="R1e248822c0ba476d"/>
    <p:sldId xmlns:r="http://schemas.openxmlformats.org/officeDocument/2006/relationships" id="275" r:id="Re8baa16bf80c42e4"/>
    <p:sldId xmlns:r="http://schemas.openxmlformats.org/officeDocument/2006/relationships" id="276" r:id="R84f10af3098146af"/>
    <p:sldId xmlns:r="http://schemas.openxmlformats.org/officeDocument/2006/relationships" id="277" r:id="R1618d72af9dd479f"/>
    <p:sldId xmlns:r="http://schemas.openxmlformats.org/officeDocument/2006/relationships" id="278" r:id="Rf73d4a5fdcfe4ee3"/>
    <p:sldId xmlns:r="http://schemas.openxmlformats.org/officeDocument/2006/relationships" id="279" r:id="R0bb26ff193194500"/>
    <p:sldId xmlns:r="http://schemas.openxmlformats.org/officeDocument/2006/relationships" id="280" r:id="R577a3b9167864659"/>
    <p:sldId xmlns:r="http://schemas.openxmlformats.org/officeDocument/2006/relationships" id="281" r:id="R12925344dcdc4407"/>
    <p:sldId xmlns:r="http://schemas.openxmlformats.org/officeDocument/2006/relationships" id="282" r:id="R5f8c296f2ec04571"/>
    <p:sldId xmlns:r="http://schemas.openxmlformats.org/officeDocument/2006/relationships" id="283" r:id="R95b8788d59d4405b"/>
    <p:sldId xmlns:r="http://schemas.openxmlformats.org/officeDocument/2006/relationships" id="284" r:id="R05dc367b06c74fc9"/>
    <p:sldId xmlns:r="http://schemas.openxmlformats.org/officeDocument/2006/relationships" id="285" r:id="Rf1fab45e520a4d32"/>
    <p:sldId xmlns:r="http://schemas.openxmlformats.org/officeDocument/2006/relationships" id="286" r:id="R9464285f56a64366"/>
    <p:sldId xmlns:r="http://schemas.openxmlformats.org/officeDocument/2006/relationships" id="287" r:id="R99fbe4c17f634f3d"/>
    <p:sldId xmlns:r="http://schemas.openxmlformats.org/officeDocument/2006/relationships" id="288" r:id="R3ed78541c9644cc4"/>
    <p:sldId xmlns:r="http://schemas.openxmlformats.org/officeDocument/2006/relationships" id="289" r:id="R52e61eca73ba43c9"/>
    <p:sldId xmlns:r="http://schemas.openxmlformats.org/officeDocument/2006/relationships" id="290" r:id="R75153d3ef0cf4c69"/>
    <p:sldId xmlns:r="http://schemas.openxmlformats.org/officeDocument/2006/relationships" id="291" r:id="Rad7fdc6ff83b4a9d"/>
    <p:sldId xmlns:r="http://schemas.openxmlformats.org/officeDocument/2006/relationships" id="292" r:id="R277b8247a81e403b"/>
    <p:sldId xmlns:r="http://schemas.openxmlformats.org/officeDocument/2006/relationships" id="293" r:id="R1437f0b9d3304ef6"/>
    <p:sldId xmlns:r="http://schemas.openxmlformats.org/officeDocument/2006/relationships" id="294" r:id="Ree3536a6081d4976"/>
    <p:sldId xmlns:r="http://schemas.openxmlformats.org/officeDocument/2006/relationships" id="295" r:id="R00c6625385a54130"/>
    <p:sldId xmlns:r="http://schemas.openxmlformats.org/officeDocument/2006/relationships" id="296" r:id="R4f6e491b5e594358"/>
    <p:sldId xmlns:r="http://schemas.openxmlformats.org/officeDocument/2006/relationships" id="297" r:id="R05d8aff2e806436f"/>
    <p:sldId xmlns:r="http://schemas.openxmlformats.org/officeDocument/2006/relationships" id="298" r:id="R0faebbbd35b54a06"/>
    <p:sldId xmlns:r="http://schemas.openxmlformats.org/officeDocument/2006/relationships" id="299" r:id="Raa90d56eecea4613"/>
    <p:sldId xmlns:r="http://schemas.openxmlformats.org/officeDocument/2006/relationships" id="300" r:id="R717c028e2bf44008"/>
    <p:sldId xmlns:r="http://schemas.openxmlformats.org/officeDocument/2006/relationships" id="301" r:id="R7fc61fae4bfd405c"/>
    <p:sldId xmlns:r="http://schemas.openxmlformats.org/officeDocument/2006/relationships" id="302" r:id="R860a3448e8884f97"/>
    <p:sldId xmlns:r="http://schemas.openxmlformats.org/officeDocument/2006/relationships" id="303" r:id="R154802b75554466a"/>
    <p:sldId xmlns:r="http://schemas.openxmlformats.org/officeDocument/2006/relationships" id="304" r:id="Rbbee8457e3084740"/>
    <p:sldId xmlns:r="http://schemas.openxmlformats.org/officeDocument/2006/relationships" id="305" r:id="R04a0cc24c6ae4b95"/>
    <p:sldId xmlns:r="http://schemas.openxmlformats.org/officeDocument/2006/relationships" id="306" r:id="R9e882025f8b34baf"/>
    <p:sldId xmlns:r="http://schemas.openxmlformats.org/officeDocument/2006/relationships" id="307" r:id="R1d6ae2338c2d47ff"/>
    <p:sldId xmlns:r="http://schemas.openxmlformats.org/officeDocument/2006/relationships" id="308" r:id="R52d34b8e1d0348be"/>
    <p:sldId xmlns:r="http://schemas.openxmlformats.org/officeDocument/2006/relationships" id="309" r:id="R85cc2442006947ac"/>
    <p:sldId xmlns:r="http://schemas.openxmlformats.org/officeDocument/2006/relationships" id="310" r:id="R7b9baf8090af4563"/>
    <p:sldId xmlns:r="http://schemas.openxmlformats.org/officeDocument/2006/relationships" id="311" r:id="Rb4d705ff1951431d"/>
    <p:sldId xmlns:r="http://schemas.openxmlformats.org/officeDocument/2006/relationships" id="312" r:id="Rf8e38d497e4b4af0"/>
    <p:sldId xmlns:r="http://schemas.openxmlformats.org/officeDocument/2006/relationships" id="313" r:id="Ra968c87764864ec2"/>
    <p:sldId xmlns:r="http://schemas.openxmlformats.org/officeDocument/2006/relationships" id="314" r:id="R226b3c7c45eb49eb"/>
    <p:sldId xmlns:r="http://schemas.openxmlformats.org/officeDocument/2006/relationships" id="315" r:id="Rbfe14766ee7d4fe3"/>
    <p:sldId xmlns:r="http://schemas.openxmlformats.org/officeDocument/2006/relationships" id="316" r:id="R605b9e2277c94176"/>
    <p:sldId xmlns:r="http://schemas.openxmlformats.org/officeDocument/2006/relationships" id="317" r:id="R257073ceafaf4676"/>
    <p:sldId xmlns:r="http://schemas.openxmlformats.org/officeDocument/2006/relationships" id="318" r:id="Rc150c056532e4087"/>
    <p:sldId xmlns:r="http://schemas.openxmlformats.org/officeDocument/2006/relationships" id="319" r:id="R1365b261b8974ca2"/>
    <p:sldId xmlns:r="http://schemas.openxmlformats.org/officeDocument/2006/relationships" id="320" r:id="R25e9abf29679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7ff1a622a403b" /><Relationship Type="http://schemas.openxmlformats.org/officeDocument/2006/relationships/slideMaster" Target="/ppt/slideMasters/slideMaster1.xml" Id="R0bba13ef66c542b9" /><Relationship Type="http://schemas.openxmlformats.org/officeDocument/2006/relationships/notesMaster" Target="/ppt/notesMasters/notesMaster1.xml" Id="Re12e03720bce422b" /><Relationship Type="http://schemas.openxmlformats.org/officeDocument/2006/relationships/presProps" Target="/ppt/presProps.xml" Id="R67d1436f7a484759" /><Relationship Type="http://schemas.openxmlformats.org/officeDocument/2006/relationships/tableStyles" Target="/ppt/tableStyles.xml" Id="R42882fd54c054c15" /><Relationship Type="http://schemas.openxmlformats.org/officeDocument/2006/relationships/slide" Target="/ppt/slides/slide1.xml" Id="Re8da79c8608c41b1" /><Relationship Type="http://schemas.openxmlformats.org/officeDocument/2006/relationships/slide" Target="/ppt/slides/slide2.xml" Id="R6cfef53712094d1a" /><Relationship Type="http://schemas.openxmlformats.org/officeDocument/2006/relationships/slide" Target="/ppt/slides/slide3.xml" Id="R19ba3980d22546fa" /><Relationship Type="http://schemas.openxmlformats.org/officeDocument/2006/relationships/slide" Target="/ppt/slides/slide4.xml" Id="Re54ce3252a1f4cd9" /><Relationship Type="http://schemas.openxmlformats.org/officeDocument/2006/relationships/slide" Target="/ppt/slides/slide5.xml" Id="Rc9c6b4b101a24b37" /><Relationship Type="http://schemas.openxmlformats.org/officeDocument/2006/relationships/slide" Target="/ppt/slides/slide6.xml" Id="Reeef449ad9e94f6e" /><Relationship Type="http://schemas.openxmlformats.org/officeDocument/2006/relationships/slide" Target="/ppt/slides/slide7.xml" Id="Re2868cb129454b3b" /><Relationship Type="http://schemas.openxmlformats.org/officeDocument/2006/relationships/slide" Target="/ppt/slides/slide8.xml" Id="R09789aa58b8a4376" /><Relationship Type="http://schemas.openxmlformats.org/officeDocument/2006/relationships/slide" Target="/ppt/slides/slide9.xml" Id="Rc530c98f0b6d426c" /><Relationship Type="http://schemas.openxmlformats.org/officeDocument/2006/relationships/slide" Target="/ppt/slides/slide10.xml" Id="R3f56426f1b5d40c6" /><Relationship Type="http://schemas.openxmlformats.org/officeDocument/2006/relationships/slide" Target="/ppt/slides/slide11.xml" Id="R6292422de672418f" /><Relationship Type="http://schemas.openxmlformats.org/officeDocument/2006/relationships/slide" Target="/ppt/slides/slide12.xml" Id="Rd8f0494f60dd4202" /><Relationship Type="http://schemas.openxmlformats.org/officeDocument/2006/relationships/slide" Target="/ppt/slides/slide13.xml" Id="R5f32503ea63c44dd" /><Relationship Type="http://schemas.openxmlformats.org/officeDocument/2006/relationships/slide" Target="/ppt/slides/slide14.xml" Id="R6832545d5c8a44f2" /><Relationship Type="http://schemas.openxmlformats.org/officeDocument/2006/relationships/slide" Target="/ppt/slides/slide15.xml" Id="Rd55019a54189469a" /><Relationship Type="http://schemas.openxmlformats.org/officeDocument/2006/relationships/slide" Target="/ppt/slides/slide16.xml" Id="Re10b61139de647a9" /><Relationship Type="http://schemas.openxmlformats.org/officeDocument/2006/relationships/slide" Target="/ppt/slides/slide17.xml" Id="R3b80c80518044af2" /><Relationship Type="http://schemas.openxmlformats.org/officeDocument/2006/relationships/slide" Target="/ppt/slides/slide18.xml" Id="R74295def18e84d1a" /><Relationship Type="http://schemas.openxmlformats.org/officeDocument/2006/relationships/slide" Target="/ppt/slides/slide19.xml" Id="R1e248822c0ba476d" /><Relationship Type="http://schemas.openxmlformats.org/officeDocument/2006/relationships/slide" Target="/ppt/slides/slide20.xml" Id="Re8baa16bf80c42e4" /><Relationship Type="http://schemas.openxmlformats.org/officeDocument/2006/relationships/slide" Target="/ppt/slides/slide21.xml" Id="R84f10af3098146af" /><Relationship Type="http://schemas.openxmlformats.org/officeDocument/2006/relationships/slide" Target="/ppt/slides/slide22.xml" Id="R1618d72af9dd479f" /><Relationship Type="http://schemas.openxmlformats.org/officeDocument/2006/relationships/slide" Target="/ppt/slides/slide23.xml" Id="Rf73d4a5fdcfe4ee3" /><Relationship Type="http://schemas.openxmlformats.org/officeDocument/2006/relationships/slide" Target="/ppt/slides/slide24.xml" Id="R0bb26ff193194500" /><Relationship Type="http://schemas.openxmlformats.org/officeDocument/2006/relationships/slide" Target="/ppt/slides/slide25.xml" Id="R577a3b9167864659" /><Relationship Type="http://schemas.openxmlformats.org/officeDocument/2006/relationships/slide" Target="/ppt/slides/slide26.xml" Id="R12925344dcdc4407" /><Relationship Type="http://schemas.openxmlformats.org/officeDocument/2006/relationships/slide" Target="/ppt/slides/slide27.xml" Id="R5f8c296f2ec04571" /><Relationship Type="http://schemas.openxmlformats.org/officeDocument/2006/relationships/slide" Target="/ppt/slides/slide28.xml" Id="R95b8788d59d4405b" /><Relationship Type="http://schemas.openxmlformats.org/officeDocument/2006/relationships/slide" Target="/ppt/slides/slide29.xml" Id="R05dc367b06c74fc9" /><Relationship Type="http://schemas.openxmlformats.org/officeDocument/2006/relationships/slide" Target="/ppt/slides/slide30.xml" Id="Rf1fab45e520a4d32" /><Relationship Type="http://schemas.openxmlformats.org/officeDocument/2006/relationships/slide" Target="/ppt/slides/slide31.xml" Id="R9464285f56a64366" /><Relationship Type="http://schemas.openxmlformats.org/officeDocument/2006/relationships/slide" Target="/ppt/slides/slide32.xml" Id="R99fbe4c17f634f3d" /><Relationship Type="http://schemas.openxmlformats.org/officeDocument/2006/relationships/slide" Target="/ppt/slides/slide33.xml" Id="R3ed78541c9644cc4" /><Relationship Type="http://schemas.openxmlformats.org/officeDocument/2006/relationships/slide" Target="/ppt/slides/slide34.xml" Id="R52e61eca73ba43c9" /><Relationship Type="http://schemas.openxmlformats.org/officeDocument/2006/relationships/slide" Target="/ppt/slides/slide35.xml" Id="R75153d3ef0cf4c69" /><Relationship Type="http://schemas.openxmlformats.org/officeDocument/2006/relationships/slide" Target="/ppt/slides/slide36.xml" Id="Rad7fdc6ff83b4a9d" /><Relationship Type="http://schemas.openxmlformats.org/officeDocument/2006/relationships/slide" Target="/ppt/slides/slide37.xml" Id="R277b8247a81e403b" /><Relationship Type="http://schemas.openxmlformats.org/officeDocument/2006/relationships/slide" Target="/ppt/slides/slide38.xml" Id="R1437f0b9d3304ef6" /><Relationship Type="http://schemas.openxmlformats.org/officeDocument/2006/relationships/slide" Target="/ppt/slides/slide39.xml" Id="Ree3536a6081d4976" /><Relationship Type="http://schemas.openxmlformats.org/officeDocument/2006/relationships/slide" Target="/ppt/slides/slide40.xml" Id="R00c6625385a54130" /><Relationship Type="http://schemas.openxmlformats.org/officeDocument/2006/relationships/slide" Target="/ppt/slides/slide41.xml" Id="R4f6e491b5e594358" /><Relationship Type="http://schemas.openxmlformats.org/officeDocument/2006/relationships/slide" Target="/ppt/slides/slide42.xml" Id="R05d8aff2e806436f" /><Relationship Type="http://schemas.openxmlformats.org/officeDocument/2006/relationships/slide" Target="/ppt/slides/slide43.xml" Id="R0faebbbd35b54a06" /><Relationship Type="http://schemas.openxmlformats.org/officeDocument/2006/relationships/slide" Target="/ppt/slides/slide44.xml" Id="Raa90d56eecea4613" /><Relationship Type="http://schemas.openxmlformats.org/officeDocument/2006/relationships/slide" Target="/ppt/slides/slide45.xml" Id="R717c028e2bf44008" /><Relationship Type="http://schemas.openxmlformats.org/officeDocument/2006/relationships/slide" Target="/ppt/slides/slide46.xml" Id="R7fc61fae4bfd405c" /><Relationship Type="http://schemas.openxmlformats.org/officeDocument/2006/relationships/slide" Target="/ppt/slides/slide47.xml" Id="R860a3448e8884f97" /><Relationship Type="http://schemas.openxmlformats.org/officeDocument/2006/relationships/slide" Target="/ppt/slides/slide48.xml" Id="R154802b75554466a" /><Relationship Type="http://schemas.openxmlformats.org/officeDocument/2006/relationships/slide" Target="/ppt/slides/slide49.xml" Id="Rbbee8457e3084740" /><Relationship Type="http://schemas.openxmlformats.org/officeDocument/2006/relationships/slide" Target="/ppt/slides/slide50.xml" Id="R04a0cc24c6ae4b95" /><Relationship Type="http://schemas.openxmlformats.org/officeDocument/2006/relationships/slide" Target="/ppt/slides/slide51.xml" Id="R9e882025f8b34baf" /><Relationship Type="http://schemas.openxmlformats.org/officeDocument/2006/relationships/slide" Target="/ppt/slides/slide52.xml" Id="R1d6ae2338c2d47ff" /><Relationship Type="http://schemas.openxmlformats.org/officeDocument/2006/relationships/slide" Target="/ppt/slides/slide53.xml" Id="R52d34b8e1d0348be" /><Relationship Type="http://schemas.openxmlformats.org/officeDocument/2006/relationships/slide" Target="/ppt/slides/slide54.xml" Id="R85cc2442006947ac" /><Relationship Type="http://schemas.openxmlformats.org/officeDocument/2006/relationships/slide" Target="/ppt/slides/slide55.xml" Id="R7b9baf8090af4563" /><Relationship Type="http://schemas.openxmlformats.org/officeDocument/2006/relationships/slide" Target="/ppt/slides/slide56.xml" Id="Rb4d705ff1951431d" /><Relationship Type="http://schemas.openxmlformats.org/officeDocument/2006/relationships/slide" Target="/ppt/slides/slide57.xml" Id="Rf8e38d497e4b4af0" /><Relationship Type="http://schemas.openxmlformats.org/officeDocument/2006/relationships/slide" Target="/ppt/slides/slide58.xml" Id="Ra968c87764864ec2" /><Relationship Type="http://schemas.openxmlformats.org/officeDocument/2006/relationships/slide" Target="/ppt/slides/slide59.xml" Id="R226b3c7c45eb49eb" /><Relationship Type="http://schemas.openxmlformats.org/officeDocument/2006/relationships/slide" Target="/ppt/slides/slide60.xml" Id="Rbfe14766ee7d4fe3" /><Relationship Type="http://schemas.openxmlformats.org/officeDocument/2006/relationships/slide" Target="/ppt/slides/slide61.xml" Id="R605b9e2277c94176" /><Relationship Type="http://schemas.openxmlformats.org/officeDocument/2006/relationships/slide" Target="/ppt/slides/slide62.xml" Id="R257073ceafaf4676" /><Relationship Type="http://schemas.openxmlformats.org/officeDocument/2006/relationships/slide" Target="/ppt/slides/slide63.xml" Id="Rc150c056532e4087" /><Relationship Type="http://schemas.openxmlformats.org/officeDocument/2006/relationships/slide" Target="/ppt/slides/slide64.xml" Id="R1365b261b8974ca2" /><Relationship Type="http://schemas.openxmlformats.org/officeDocument/2006/relationships/slide" Target="/ppt/slides/slide65.xml" Id="R25e9abf29679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463252e88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b547360a04371" /><Relationship Type="http://schemas.openxmlformats.org/officeDocument/2006/relationships/notesMaster" Target="/ppt/notesMasters/notesMaster1.xml" Id="R7e04830ab95746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689d4a7ae4d59" /><Relationship Type="http://schemas.openxmlformats.org/officeDocument/2006/relationships/notesMaster" Target="/ppt/notesMasters/notesMaster1.xml" Id="R8a12e94efbca4c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e23ccd47ed486b" /><Relationship Type="http://schemas.openxmlformats.org/officeDocument/2006/relationships/notesMaster" Target="/ppt/notesMasters/notesMaster1.xml" Id="R3d60c456806341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907f2df9cf4461" /><Relationship Type="http://schemas.openxmlformats.org/officeDocument/2006/relationships/notesMaster" Target="/ppt/notesMasters/notesMaster1.xml" Id="R96b5645fd2ae49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b2b79fd4ba4387" /><Relationship Type="http://schemas.openxmlformats.org/officeDocument/2006/relationships/notesMaster" Target="/ppt/notesMasters/notesMaster1.xml" Id="R8838cd59a9d343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ac49e450054d6e" /><Relationship Type="http://schemas.openxmlformats.org/officeDocument/2006/relationships/notesMaster" Target="/ppt/notesMasters/notesMaster1.xml" Id="R0ba95a7524ef43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24b31f49024ede" /><Relationship Type="http://schemas.openxmlformats.org/officeDocument/2006/relationships/notesMaster" Target="/ppt/notesMasters/notesMaster1.xml" Id="R0c4a05c91f3d43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9f1daa2f3d431d" /><Relationship Type="http://schemas.openxmlformats.org/officeDocument/2006/relationships/notesMaster" Target="/ppt/notesMasters/notesMaster1.xml" Id="R4ac232b5dd6c48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d5db656d146dc" /><Relationship Type="http://schemas.openxmlformats.org/officeDocument/2006/relationships/notesMaster" Target="/ppt/notesMasters/notesMaster1.xml" Id="Rf564045f4b7b49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083e8e5da64121" /><Relationship Type="http://schemas.openxmlformats.org/officeDocument/2006/relationships/notesMaster" Target="/ppt/notesMasters/notesMaster1.xml" Id="Rf27fed1e9b4241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8baf49f86f49b8" /><Relationship Type="http://schemas.openxmlformats.org/officeDocument/2006/relationships/notesMaster" Target="/ppt/notesMasters/notesMaster1.xml" Id="R54429ad290d940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3df02a9a804db6" /><Relationship Type="http://schemas.openxmlformats.org/officeDocument/2006/relationships/notesMaster" Target="/ppt/notesMasters/notesMaster1.xml" Id="Rd079e420159b40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65adbf0c3c4bc6" /><Relationship Type="http://schemas.openxmlformats.org/officeDocument/2006/relationships/notesMaster" Target="/ppt/notesMasters/notesMaster1.xml" Id="R60ba74a81bba4f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2b8a8cf78f4929" /><Relationship Type="http://schemas.openxmlformats.org/officeDocument/2006/relationships/notesMaster" Target="/ppt/notesMasters/notesMaster1.xml" Id="Rc1d3b54ff13843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f2a55859d644c4" /><Relationship Type="http://schemas.openxmlformats.org/officeDocument/2006/relationships/notesMaster" Target="/ppt/notesMasters/notesMaster1.xml" Id="R97bd4d73d06d4d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59c011bb884840" /><Relationship Type="http://schemas.openxmlformats.org/officeDocument/2006/relationships/notesMaster" Target="/ppt/notesMasters/notesMaster1.xml" Id="R4289be58d6a847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7a048c05cb4e3b" /><Relationship Type="http://schemas.openxmlformats.org/officeDocument/2006/relationships/notesMaster" Target="/ppt/notesMasters/notesMaster1.xml" Id="Rc5e1354c01fb49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6a7a874d53453b" /><Relationship Type="http://schemas.openxmlformats.org/officeDocument/2006/relationships/notesMaster" Target="/ppt/notesMasters/notesMaster1.xml" Id="Rdf04e0d144fc45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d9a8ae78af4f64" /><Relationship Type="http://schemas.openxmlformats.org/officeDocument/2006/relationships/notesMaster" Target="/ppt/notesMasters/notesMaster1.xml" Id="R9da66e1b796541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47586b0e72492a" /><Relationship Type="http://schemas.openxmlformats.org/officeDocument/2006/relationships/notesMaster" Target="/ppt/notesMasters/notesMaster1.xml" Id="R39d4e11c36cd42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25c4b9974d4ae8" /><Relationship Type="http://schemas.openxmlformats.org/officeDocument/2006/relationships/notesMaster" Target="/ppt/notesMasters/notesMaster1.xml" Id="Rfe03da5f82b547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80935193ae47bf" /><Relationship Type="http://schemas.openxmlformats.org/officeDocument/2006/relationships/notesMaster" Target="/ppt/notesMasters/notesMaster1.xml" Id="Rebbb962886354fc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402e3190cd4c09" /><Relationship Type="http://schemas.openxmlformats.org/officeDocument/2006/relationships/notesMaster" Target="/ppt/notesMasters/notesMaster1.xml" Id="Rf3004df952f942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1d421ffda5460e" /><Relationship Type="http://schemas.openxmlformats.org/officeDocument/2006/relationships/notesMaster" Target="/ppt/notesMasters/notesMaster1.xml" Id="Rb83f41dc35e24b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d7492c4fd24fa5" /><Relationship Type="http://schemas.openxmlformats.org/officeDocument/2006/relationships/notesMaster" Target="/ppt/notesMasters/notesMaster1.xml" Id="R7c3c8ff6790744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cc1335a89c40bf" /><Relationship Type="http://schemas.openxmlformats.org/officeDocument/2006/relationships/notesMaster" Target="/ppt/notesMasters/notesMaster1.xml" Id="Ra08c5c228b654b9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5541fba68f94f5a" /><Relationship Type="http://schemas.openxmlformats.org/officeDocument/2006/relationships/notesMaster" Target="/ppt/notesMasters/notesMaster1.xml" Id="R29d94aaed9084e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1356abfac34260" /><Relationship Type="http://schemas.openxmlformats.org/officeDocument/2006/relationships/notesMaster" Target="/ppt/notesMasters/notesMaster1.xml" Id="Rc4c3b34798e14c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b31521cbd3a4dd6" /><Relationship Type="http://schemas.openxmlformats.org/officeDocument/2006/relationships/notesMaster" Target="/ppt/notesMasters/notesMaster1.xml" Id="Rbebd2bd45b88472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55909f4aa540c3" /><Relationship Type="http://schemas.openxmlformats.org/officeDocument/2006/relationships/notesMaster" Target="/ppt/notesMasters/notesMaster1.xml" Id="R4ec94ad17b074f9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8a54d97439b4164" /><Relationship Type="http://schemas.openxmlformats.org/officeDocument/2006/relationships/notesMaster" Target="/ppt/notesMasters/notesMaster1.xml" Id="R275fe80c6ce14d5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787128cabc74330" /><Relationship Type="http://schemas.openxmlformats.org/officeDocument/2006/relationships/notesMaster" Target="/ppt/notesMasters/notesMaster1.xml" Id="R8d9d703dc5e7431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52684823ca74aa2" /><Relationship Type="http://schemas.openxmlformats.org/officeDocument/2006/relationships/notesMaster" Target="/ppt/notesMasters/notesMaster1.xml" Id="R61116b840d864ba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ed4c90cf630413b" /><Relationship Type="http://schemas.openxmlformats.org/officeDocument/2006/relationships/notesMaster" Target="/ppt/notesMasters/notesMaster1.xml" Id="Rdff15d645342464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9f7dd0f470e4471" /><Relationship Type="http://schemas.openxmlformats.org/officeDocument/2006/relationships/notesMaster" Target="/ppt/notesMasters/notesMaster1.xml" Id="R601ac782a5854ca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d3cf0ad6a5a492f" /><Relationship Type="http://schemas.openxmlformats.org/officeDocument/2006/relationships/notesMaster" Target="/ppt/notesMasters/notesMaster1.xml" Id="R22ed4ef010b5421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35d97c05e54208" /><Relationship Type="http://schemas.openxmlformats.org/officeDocument/2006/relationships/notesMaster" Target="/ppt/notesMasters/notesMaster1.xml" Id="R37c7a96c66b94ec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91f6a2d6bde484a" /><Relationship Type="http://schemas.openxmlformats.org/officeDocument/2006/relationships/notesMaster" Target="/ppt/notesMasters/notesMaster1.xml" Id="Rc4c893f2c11e44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218332ba6754404" /><Relationship Type="http://schemas.openxmlformats.org/officeDocument/2006/relationships/notesMaster" Target="/ppt/notesMasters/notesMaster1.xml" Id="Rbad92e29115c41c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e65b20812304b54" /><Relationship Type="http://schemas.openxmlformats.org/officeDocument/2006/relationships/notesMaster" Target="/ppt/notesMasters/notesMaster1.xml" Id="Radd416b649864a6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8412daed48246b0" /><Relationship Type="http://schemas.openxmlformats.org/officeDocument/2006/relationships/notesMaster" Target="/ppt/notesMasters/notesMaster1.xml" Id="R0a03326aa21f4e1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854bed6116b47e5" /><Relationship Type="http://schemas.openxmlformats.org/officeDocument/2006/relationships/notesMaster" Target="/ppt/notesMasters/notesMaster1.xml" Id="R61415f1f2dbf4fd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e48edd53e00451a" /><Relationship Type="http://schemas.openxmlformats.org/officeDocument/2006/relationships/notesMaster" Target="/ppt/notesMasters/notesMaster1.xml" Id="Ra2735418d90446f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ce30cbae1ca44f2" /><Relationship Type="http://schemas.openxmlformats.org/officeDocument/2006/relationships/notesMaster" Target="/ppt/notesMasters/notesMaster1.xml" Id="R510b2125d785421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2201c5fff864cbd" /><Relationship Type="http://schemas.openxmlformats.org/officeDocument/2006/relationships/notesMaster" Target="/ppt/notesMasters/notesMaster1.xml" Id="Rfca73eb8030d47b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da847adccb84314" /><Relationship Type="http://schemas.openxmlformats.org/officeDocument/2006/relationships/notesMaster" Target="/ppt/notesMasters/notesMaster1.xml" Id="Rbef6972ff584406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b37a10a357a4642" /><Relationship Type="http://schemas.openxmlformats.org/officeDocument/2006/relationships/notesMaster" Target="/ppt/notesMasters/notesMaster1.xml" Id="R8dbbce82fde44aa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b53c2ff96484e30" /><Relationship Type="http://schemas.openxmlformats.org/officeDocument/2006/relationships/notesMaster" Target="/ppt/notesMasters/notesMaster1.xml" Id="R16f07e31f79c46a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19a6cdf9d6e4f2c" /><Relationship Type="http://schemas.openxmlformats.org/officeDocument/2006/relationships/notesMaster" Target="/ppt/notesMasters/notesMaster1.xml" Id="Rfbafc28de530402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7551978db6649f3" /><Relationship Type="http://schemas.openxmlformats.org/officeDocument/2006/relationships/notesMaster" Target="/ppt/notesMasters/notesMaster1.xml" Id="R6a058138f0a2453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d45dea8b4d340ed" /><Relationship Type="http://schemas.openxmlformats.org/officeDocument/2006/relationships/notesMaster" Target="/ppt/notesMasters/notesMaster1.xml" Id="R091703f7f2334d7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7aa6004b2984459" /><Relationship Type="http://schemas.openxmlformats.org/officeDocument/2006/relationships/notesMaster" Target="/ppt/notesMasters/notesMaster1.xml" Id="R7fe865ddc1ac46e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087c1bb4a2d44a8" /><Relationship Type="http://schemas.openxmlformats.org/officeDocument/2006/relationships/notesMaster" Target="/ppt/notesMasters/notesMaster1.xml" Id="R21a44342e0d1479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7ea83f8e3ee49a6" /><Relationship Type="http://schemas.openxmlformats.org/officeDocument/2006/relationships/notesMaster" Target="/ppt/notesMasters/notesMaster1.xml" Id="R2e8399eb645f40c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e05d42ae5044f53" /><Relationship Type="http://schemas.openxmlformats.org/officeDocument/2006/relationships/notesMaster" Target="/ppt/notesMasters/notesMaster1.xml" Id="R4e4d7b7a65b34a7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1de4e3af8ac4c05" /><Relationship Type="http://schemas.openxmlformats.org/officeDocument/2006/relationships/notesMaster" Target="/ppt/notesMasters/notesMaster1.xml" Id="R68e1e16ee27949d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dc2efe3cf0248be" /><Relationship Type="http://schemas.openxmlformats.org/officeDocument/2006/relationships/notesMaster" Target="/ppt/notesMasters/notesMaster1.xml" Id="Re6752f986701477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58b796b61844dec" /><Relationship Type="http://schemas.openxmlformats.org/officeDocument/2006/relationships/notesMaster" Target="/ppt/notesMasters/notesMaster1.xml" Id="R4b2a259dae0e4c8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1219831f7e541cb" /><Relationship Type="http://schemas.openxmlformats.org/officeDocument/2006/relationships/notesMaster" Target="/ppt/notesMasters/notesMaster1.xml" Id="R8de55b1df8d749f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5e7b5ed70d840e6" /><Relationship Type="http://schemas.openxmlformats.org/officeDocument/2006/relationships/notesMaster" Target="/ppt/notesMasters/notesMaster1.xml" Id="R7820a0ee9eb441b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4b5248904b34c37" /><Relationship Type="http://schemas.openxmlformats.org/officeDocument/2006/relationships/notesMaster" Target="/ppt/notesMasters/notesMaster1.xml" Id="Rf14810b379f6402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717cc8a697c4321" /><Relationship Type="http://schemas.openxmlformats.org/officeDocument/2006/relationships/notesMaster" Target="/ppt/notesMasters/notesMaster1.xml" Id="R6aa20eea5da1412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19c29e5a7c04c0f" /><Relationship Type="http://schemas.openxmlformats.org/officeDocument/2006/relationships/notesMaster" Target="/ppt/notesMasters/notesMaster1.xml" Id="R0e0db8b76224421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08bee940222445c" /><Relationship Type="http://schemas.openxmlformats.org/officeDocument/2006/relationships/notesMaster" Target="/ppt/notesMasters/notesMaster1.xml" Id="Rd49f74f4cd5e4c1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40141ad6eb842d8" /><Relationship Type="http://schemas.openxmlformats.org/officeDocument/2006/relationships/notesMaster" Target="/ppt/notesMasters/notesMaster1.xml" Id="R0aba115af66f46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第1页｜AR 波导光栅 完整学习复盘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这套资料用于回忆已经做过的工作，并重新建立独立判断能力。当前工程范围是单色入耦器，不涵盖整副AR眼镜。历史结果均须联系当时的模型和评价定义。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封面视觉为2026-10-23生成的AR眼镜概念图，并非真实产品、已完成整机设计或电磁仿真。文字、参数、表格和数值曲线均独立编辑。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第01章 当前到底进行到哪一步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当前项目停在“638 nm 三维有限光束入耦候选的局部验证完成，准备建立工程波长响应”。1.40 µm 是选作继续学习的横向宽度候选，不能称为通过全部工程验收的最终器件。10月17日的 Stage292–298 已计算完；最后一个操作问题是导入光源没有 `angle theta` 属性。此问题属于读取方式错误，不代表历史仿真结果丢失。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模块 | 已有工程证据 | 尚需建立的能力或证据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基础几何与界面 | 多版 FDTD 与 RCWA 工程、手动和脚本操作 | 不看代码说明也能指出每个对象作用 |</a:t>
            </a:r>
          </a:p>
          <a:p xmlns:a="http://schemas.openxmlformats.org/drawingml/2006/main">
            <a:r>
              <a:t>| 周期单元筛选 | 532/638 nm、TE/TM、周期、宽高与 k 向量测试 | 理解级次标签及两种 RCWA 归一化 |</a:t>
            </a:r>
          </a:p>
          <a:p xmlns:a="http://schemas.openxmlformats.org/drawingml/2006/main">
            <a:r>
              <a:t>| 二维有限器件 | 相位匹配、倾斜齿、角度与波长、部分公差验证 | 解释二维假设，知道结论适用哪一版几何 |</a:t>
            </a:r>
          </a:p>
          <a:p xmlns:a="http://schemas.openxmlformats.org/drawingml/2006/main">
            <a:r>
              <a:t>| 三维有限光束 | 背景场扣除、固定模态投影、局部几何和三光斑比较 | 源物理一致性和当前候选的针对性收敛审计 |</a:t>
            </a:r>
          </a:p>
          <a:p xmlns:a="http://schemas.openxmlformats.org/drawingml/2006/main">
            <a:r>
              <a:t>| 工程验证 | 已有实验流程与输入规格表 | 当前 1.40 µm 候选的波长、角度、位置及制造容差 |</a:t>
            </a:r>
          </a:p>
          <a:p xmlns:a="http://schemas.openxmlformats.org/drawingml/2006/main">
            <a:r>
              <a:t>| 完整 AR 系统 | 已讲过 FOV、眼盒、RGB、扩瞳概念 | 系统模型、出耦均匀性、RGB 共视场和成像质量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文件事实：工程基准 `ar_incoupler_ENGINEERING_BASELINE_638nm.fsp` 已存在，最后写入时间为10月17日19:25。它是切换 Layout 后保存的设置副本，不能假定包含原完整结果。已计算模型和后处理模型另存为 Stage292b、Stage293b 等文件。10月22日本次进程检查没有发现 FDTD 进程；这里记录的是保存状态，不能据此声称软件正在显示某个模型。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建议的当前定位是：已有较丰富的仿真实践和候选结果，正在补足独立判断能力。过去用“已经学会”或粗略百分比衡量进度并不可靠。之后要靠复述、预测和小实验验收。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第2页｜阅读目录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这是复习用长篇课件，可以分六次学习。页面保留核心解释，PowerPoint备注提供细节和来源。读完一个实验后，用自己的话说出变量、固定量、指标和下一步。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第一次先看第3、7、16、43、47、53页，随后按章节复习。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第01章 当前到底进行到哪一步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第3页｜工程进度与学习进度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计算记录存在，只能证明对应工作留下了证据。它不自动证明你已经能独立操作，也不证明器件满足产品规格。当前1.40 µm候选仅是后续验证的起点。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当前位置：三维入耦候选的工程验证入口。独立理解需要单独验收。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第01章 当前到底进行到哪一步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第4页｜入耦器在 AR 光路中的位置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汽车信号灯经验能帮助理解功率预算、均匀性、公差和测试闭环。AR额外需要掌握相位、衍射、模式和偏振。厘米级波导应结合局部电磁数据和系统传播模型。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局部耦合效率只覆盖光路的一段，系统还需要输入规格与下游传播模型。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第02章 把局部光栅放回完整 AR 光路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显示光机产生携带图像信息的光。准直与投影光学把图像位置映射到角度。入耦光栅改变光的面内动量，把合适的光送入波导；光在波导中传播，扩瞳结构把出瞳复制到更大的区域，出耦结构再把光送向眼睛。眼睛在一定眼盒内应看到完整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![AR系统中的光与当前模型的范围](figures/system.png)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计算主要覆盖“投影光束照到一小段入耦光栅，右侧产生多少导模功率”。这还没有包含显示器辐亮度、全片传播、出耦器、眼盒、眼球和成像链路。厘米级系统应由局部电磁数据与系统级传播模型衔接；把整个眼镜用纳米网格直接算一遍并不是合理的初学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系统指标 | 它回答的问题 | 当前局部 FDTD 能否独立给出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入耦效率 | 入射光有多少进入指定传播通道 | 可以在明确模型与归一化后评估 |</a:t>
            </a:r>
          </a:p>
          <a:p xmlns:a="http://schemas.openxmlformats.org/drawingml/2006/main">
            <a:r>
              <a:t>| FOV 视场 | 能看到多大角范围的图像 | 不能，局部接受角只是一个限制因素 |</a:t>
            </a:r>
          </a:p>
          <a:p xmlns:a="http://schemas.openxmlformats.org/drawingml/2006/main">
            <a:r>
              <a:t>| Eyebox 眼盒 | 眼睛移动到哪些位置仍能看到完整图像 | 不能，需要扩瞳和出耦布局 |</a:t>
            </a:r>
          </a:p>
          <a:p xmlns:a="http://schemas.openxmlformats.org/drawingml/2006/main">
            <a:r>
              <a:t>| Eye relief 出瞳距离 | 波导到眼睛工作位置的距离 | 不能由局部光栅效率推导 |</a:t>
            </a:r>
          </a:p>
          <a:p xmlns:a="http://schemas.openxmlformats.org/drawingml/2006/main">
            <a:r>
              <a:t>| 均匀性 | 不同视场及眼盒位置的亮度是否一致 | 需要空间与角度联合评价 |</a:t>
            </a:r>
          </a:p>
          <a:p xmlns:a="http://schemas.openxmlformats.org/drawingml/2006/main">
            <a:r>
              <a:t>| MTF 与分辨率 | 图像细节传递得怎样 | 需要完整成像与波前分析 |</a:t>
            </a:r>
          </a:p>
          <a:p xmlns:a="http://schemas.openxmlformats.org/drawingml/2006/main">
            <a:r>
              <a:t>| 彩虹与鬼影 | 环境光和寄生路径是否产生可见伪像 | 需要相应杂散路径和照明模型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你的汽车信号灯经验能帮助理解功率流、均匀性、公差和测量闭环。需要补充的关键是波动光学中的相位、衍射通道、偏振和波导模式。先把这些接上，再扩展到系统设计。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第5页｜每轮计算对应的四类问题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过去很多轮工作实际上是在修正源和测量链。把这些轮次都叫优化，会让人误以为我们只是在不断追高百分数。以后开始前先写明本轮属于哪类问题。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一次实验只回答一个明确问题，结果才能支持下一次决策。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第18章 每轮实验采用相同的推理顺序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一个可学习的实验只需要先写清七句话：问题是什么；基准文件是哪一个；固定哪些量；改变哪个量；预计怎样变化；从哪里读什么指标；什么结果意味着停止或进入下一步。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以高度实验为例：问题是“310 nm是否是三维稳健高度”；固定周期、齿宽、shift、光源和测量方法；先测300/310/320。结果单调说明峰未夹住，逐步下移；230/240/250夹住局部峰后，只补一个237 nm验证点。拟合帮助挑点，实测决定是否采用。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优化、敏感性与收敛应分别安排。优化主动改变设计，寻找更好指标；敏感性把偏差当作不可控误差，观察损失；收敛固定物理问题，仅改数值设置，检查答案稳定性。如果三者混在一个表中，无法知道效率变化来自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停止规则也要分开。教学理解以能复述与复现为准；局部优化以峰值范围、工程增益和数值不确定度为准；产品验收以明确规格为准。历史0.02个百分点、1%或±2%都是局部采用的阈值，没有一个是放之四海而皆准的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对于后续练习，预先限定“3点检查，确有必要才加2点”。候选改善若与网格差、模式分解差或源差同量级，应停止微调并报告不确定度。当前不需要再优化周期、齿宽、齿高或横向宽度来证明学习进步。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轮保存一张实验记录：问题、日期、模型版本、坐标与输入、唯一变量、原始结果、分母与单位、比较值、结论、限制和下一动作。自动脚本可以执行这张记录中的步骤，但不能替你省掉前面的预测和后面的解释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第6页｜坐标与对象尺寸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透视图旋转改变观察方向，模型坐标并未跟着改变。早期x-z二维模型与后来的x-y模型坐标不同。斜齿的x span可能包含顶部偏移，不能直接当作底部齿宽。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对象名字和屏幕视角都不能代替全局坐标与顶点。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第04章 参数和坐标的统一字典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后期有限 FDTD 的主要坐标约定是 x 沿光栅排列和波导传播，y 为厚度与上下方向，z 为横向。早期 RCWA 有过不同传播轴和二维截面；把 RCWA 的 z 尺寸抄到后期 FDTD 的 z 之前，必须做轴映射。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![几何参数和坐标示意](figures/geometry.png)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参数 | 当前候选记录 | 它改变什么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波长 λ | 638 nm | 频率、传播常数、材料响应及入射相位 |</a:t>
            </a:r>
          </a:p>
          <a:p xmlns:a="http://schemas.openxmlformats.org/drawingml/2006/main">
            <a:r>
              <a:t>| 周期 Λ | 328.75 nm | 相邻齿的相位关系和倒格矢 |</a:t>
            </a:r>
          </a:p>
          <a:p xmlns:a="http://schemas.openxmlformats.org/drawingml/2006/main">
            <a:r>
              <a:t>| 齿宽 w | 190 nm | 元胞填充比例、散射强度及相位 |</a:t>
            </a:r>
          </a:p>
          <a:p xmlns:a="http://schemas.openxmlformats.org/drawingml/2006/main">
            <a:r>
              <a:t>| 占空比 d | 约57.79% | d=w/Λ，此处来自190/328.75 |</a:t>
            </a:r>
          </a:p>
          <a:p xmlns:a="http://schemas.openxmlformats.org/drawingml/2006/main">
            <a:r>
              <a:t>| 齿高 h | 237 nm | 结构扰动强度与散射相位 |</a:t>
            </a:r>
          </a:p>
          <a:p xmlns:a="http://schemas.openxmlformats.org/drawingml/2006/main">
            <a:r>
              <a:t>| top shift s | −290 nm | 齿顶相对齿底的x向位移，改变不对称性 |</a:t>
            </a:r>
          </a:p>
          <a:p xmlns:a="http://schemas.openxmlformats.org/drawingml/2006/main">
            <a:r>
              <a:t>| 齿底位置 | −3.75 nm | 定义高度扫描时固定的物理界面 |</a:t>
            </a:r>
          </a:p>
          <a:p xmlns:a="http://schemas.openxmlformats.org/drawingml/2006/main">
            <a:r>
              <a:t>| 横向光栅宽度 Wz | 1.40 µm | z向有限口径；与单个齿的x向宽度不同 |</a:t>
            </a:r>
          </a:p>
          <a:p xmlns:a="http://schemas.openxmlformats.org/drawingml/2006/main">
            <a:r>
              <a:t>| 齿数 N | 24 | 有限阵列长度、相干累积和光束覆盖 |</a:t>
            </a:r>
          </a:p>
          <a:p xmlns:a="http://schemas.openxmlformats.org/drawingml/2006/main">
            <a:r>
              <a:t>| 入射角 θ | 历史生成源为−15.1° | 入射场的面内相位斜率 |</a:t>
            </a:r>
          </a:p>
          <a:p xmlns:a="http://schemas.openxmlformats.org/drawingml/2006/main">
            <a:r>
              <a:t>| wx | 历史源设置6 µm | x向光束参数，正式使用前应核对源的定义 |</a:t>
            </a:r>
          </a:p>
          <a:p xmlns:a="http://schemas.openxmlformats.org/drawingml/2006/main">
            <a:r>
              <a:t>| wz | 名义0.55 µm | z向1/e场半径，端点0.45与0.65 µm |</a:t>
            </a:r>
          </a:p>
          <a:p xmlns:a="http://schemas.openxmlformats.org/drawingml/2006/main">
            <a:r>
              <a:t>| 报告面 | 历史沿用x=7 µm | 在哪里读取右行场及模式分解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“齿宽190 nm”和“光栅宽1.40 µm”属于不同方向。`x span` 是沿x轴的包围范围；多边形的倾斜形状还由顶点定义，不能仅凭一个 span 断定实际顶部、底部线宽。24个齿的 NΛ 约为7.89 µm，但包括倾斜顶点的实际边界必须由几何坐标计算。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若固定 w=190 nm 扫周期，占空比会随之改变；若固定占空比扫周期，必须同步改变齿宽。这两种扫描回答不同问题。类似地，固定 top shift 改齿高会改变侧壁倾角；如果固定侧壁角，应同步改变 shift。所谓“只改一个变量”，首先要讲清保持的是哪一组物理约束。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单位换算：1 µm=1000 nm；638 nm=0.638 µm=6.38×10⁻⁷ m。软件内部以米表示长度很正常。网格5 nm不是5 mm，两者相差一百万倍。对象名 `mesh_grating_10nm` 可能保留旧名，实际 dx、dy 应从属性读取。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在当前z包络中，场幅按 exp[−(z/wz)²] 变化，强度按 exp[−2(z/wz)²] 变化。因此 wz 同时是1/e场半径和1/e²强度半径；强度 FWHM 全宽约为1.1774wz。wz=0.55 µm 对应强度FWHM约0.648 µm，不能把0.55 µm直接当作光斑直径。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[O2] https://optics.ansys.com/hc/en-us/articles/12959229278611-RCWA-Solver-Simulation-Object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第7页｜当前候选的几何参数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齿底固定在y=−3.75 nm。24×328.75 nm约为7.89 µm，这只是NΛ，实际包围范围还应包含端点和倾斜顶点。正式使用前应从保存模型读回参数。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这是后期三维候选的记录，早期二维最优参数采用另一组几何。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第04章 参数和坐标的统一字典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第8页｜输入条件与数值设置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网格5 nm和5 mm相差一百万倍。单变量实验必须注明哪些参数固定。扫描周期时固定齿宽与固定占空比是两种不同约束。固定顶部偏移改变高度也会改变侧壁角。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1 µm = 1000 nm。638 nm = 0.638 µm = 6.38×10⁻⁷ 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第04章 参数和坐标的统一字典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第9页｜全反射条件与第一次计算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第一次学习中33.7°是临界角，50°是目标内部传播角，两者含义不同。需要同时检查传播方向和材料。这里讨论的是平面界面的通常全反射条件。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界面两侧实际材料决定临界角，名称为substrate的对象未必是低折射率包层。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第03章 先掌握四个物理关系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### 全反射是传播条件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角度必须说明相对哪个方向测量。这里把内部入射角定义为相对界面法线的角度。只有从高折射率介质射向低折射率介质时，才有通常意义下的全反射临界角。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$$\theta_c=\arcsin(n_2/n_1)$$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以波导 n₁=1.8、空气 n₂=1 为例，θc=arcsin(1/1.8)≈33.75°。内部角超过它，且界面、材料及传播条件符合假设，才满足该界面的全反射条件。一个高折射率对象命名为“substrate”，不等于它是低折射率包层；必须查看实际材料与边界。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光栅改变面内动量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 x 排列、周期为 Λ 的一维光栅，其倒格矢大小为 2π/Λ。选择一套固定坐标约定后，可以写为：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$$n_{out}\sin\theta_{out}=n_{in}\sin\theta_{in}+m\lambda/\Lambda$$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 是整数衍射级次。+1 与 −1 的区别是增加还是减少该坐标方向的面内动量；它们不是“好级次”和“坏级次”。把 x 轴反向，标签可能随之交换，真实光路并未因此变坏。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最早的练习是假设空气正入射、532 nm、n_out=1.8、目标内部角50°。代入得到 Λ=532/(1.8×sin50°)≈385.82 nm。0级没有增加这部分动量，通常不能把空气中的自由传播光直接匹配到平板的束缚导模。棱镜、近场等其他耦合方案另有机制，不能把这个判断扩大为“0级永远没用”。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求输出角时先算反正弦的输入，只有绝对值不超过1才对应该均匀介质中的传播级。相同周期下，蓝、绿、红光的角度不同；早期练习中的约65.6°只是某一组参数的红光角，不是彩虹纹的统一发生阈值。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真正的导模匹配要用传播常数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$$\beta=k_0n_{eff}=k_{x,in}+mG$$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材料折射率 n 和模式有效折射率 n_eff 不是同一个量。n_eff 取决于截面、波长、偏振和边界。光栅加载还会改变局部传播与散射相位，所以裸波导 n_eff 给出的是起点，不能保证有限光栅最高效率恰好位于这个估计点。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当前参数的手算检查：λ=638 nm、Λ=328.75 nm、θ=−15.1°，空气入射且按这里的+1约定，所需相位折射率约为 sin(−15.1°)+638/328.75≈1.679。它表示相位匹配要求，不是本次独立求得的模式 n_eff。历史 Stage199 用三组波长与峰角反算，得到约1.6796，并检查了与裸波导色散的关系。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偏振必须联系场和坐标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相对于平面波的入射面，s/TE 的电场垂直于入射面，p/TM 的电场平行于入射面。波导模式的 TE-like/TM-like 还取决于传播轴和软件定义，应结合场分量、TE fraction 和模式剖面核验。`polarization angle=90°` 不能脱离模型复制到任何窗口；`mode1` 也不永久等于 TM。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本课验收：你能指出界面法线、x轴、传播方向，并说明选定的 m 为什么把光送向目标方向。先能画出箭头，再谈哪个级次效率最高。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第10页｜衍射级次与传播方向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把x轴翻转，+1与−1标签可能交换，真实光路不因此改变。0级仍可用于直通、参考等用途。棱镜或近场耦合有不同机制。约65.6°不是彩虹纹统一阈值。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AR入耦器没有统一规定必须使用+1级。目标传播方向决定所选通道。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第03章 先掌握四个物理关系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第11页｜导模相位匹配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这里1.679是按空气入射、+1约定推得的所需相位折射率，并非本次独立求出的模式有效折射率。历史Stage199得到约1.6796，两者只是交叉参照。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手算用于给出合理起点，有限器件扫描用于核验实际响应。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第03章 先掌握四个物理关系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第12页｜TE、TM 与 mode1 的区别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不能把某一窗口中的polarization angle=90°复制成所有模型的TM设置。二维截面和传播轴改变后，必须重新核对主要场分量。mode1也不永久对应TM或+1级。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模式编号、偏振名称和衍射级次属于三个不同概念。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第03章 先掌握四个物理关系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[O6] https://optics.ansys.com/hc/en-us/articles/360034902433-Using-and-understanding-Mode-Expansion-Monitors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第13页｜RCWA、FDTD 与 Bloch 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RCWA把周期场展开为傅里叶谐波。FDTD在网格上演化电磁场。模型切换会改变物理条件，因此旧模型的最优值和公差窗口不能直接继承。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求解器选择取决于问题的边界与尺度。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第06章 RCWA FDTD 与 Bloch 为什么轮流使用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| 方法 | 最适合回答的问题 | 关键假设或局限 | 应检查的数值参数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光栅方程与手算 | 级次能否传播、方向大致在哪 | 不给出完整耦合效率 | 坐标、介质、角度定义 |</a:t>
            </a:r>
          </a:p>
          <a:p xmlns:a="http://schemas.openxmlformats.org/drawingml/2006/main">
            <a:r>
              <a:t>| RCWA | 周期元胞的偏振与衍射分配 | 横向周期重复，通常为平面波激励 | 傅里叶谐波数、层划分 |</a:t>
            </a:r>
          </a:p>
          <a:p xmlns:a="http://schemas.openxmlformats.org/drawingml/2006/main">
            <a:r>
              <a:t>| 二维有限 FDTD | 有限齿数、边缘、局部模式耦合 | 一个方向不变，不能表示有限z光斑 | 网格、时间、边界、报告面 |</a:t>
            </a:r>
          </a:p>
          <a:p xmlns:a="http://schemas.openxmlformats.org/drawingml/2006/main">
            <a:r>
              <a:t>| Bloch单元分析 | 周期加载结构的色散与共振 | 本征性质不等于有限器件效率 | Bloch波矢、网格、时间 |</a:t>
            </a:r>
          </a:p>
          <a:p xmlns:a="http://schemas.openxmlformats.org/drawingml/2006/main">
            <a:r>
              <a:t>| 三维有限 FDTD | 有限宽度、真实横向光束和三维散射 | 成本高，源与模式测量更复杂 | 三向域与网格、源、模式集合 |</a:t>
            </a:r>
          </a:p>
          <a:p xmlns:a="http://schemas.openxmlformats.org/drawingml/2006/main">
            <a:r>
              <a:t>| 系统级光学模型 | FOV、眼盒、出耦、成像和杂散路径 | 需要局部元件数据或等效模型 | 角谱/功率插值与系统采样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RCWA把周期介质和场展开为傅里叶谐波，适合快速筛选；FDTD在时间与空间网格上求电磁场，适合有限结构。它们都求解电磁问题，但模型边界不同。[O1]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RCWA的“max number k vectors”控制保留的谐波数量，是数值精度旋钮；光栅方程中的k或G是物理波矢。二者不能混为“优化k就是优化器件”。收敛时应固定结构，只增加谐波数，观察目标结果是否稳定。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合理流程是：用手算给初值，用低成本模型找趋势，用与目标器件一致的模型验证少量候选。更换二维、三维或光源时，应先做模型差异审计。不能假设旧最优点或旧容差窗口在新模型中必然成立。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[O1] https://optics.ansys.com/hc/en-us/articles/4414575008787-RCWA-Solver-Introduction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第14页｜RCWA 的 k 向量数与收敛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提高k向量数是在检查数值解，而不是直接改变器件几何。还需注意RCWA层划分精度，尤其倾斜结构。这里的数据来自旧红光候选，不能自动证明当前三维模型收敛。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历史0.1个百分点只是当时教学容许误差，应按当前问题重新定标准。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第06章 RCWA FDTD 与 Bloch 为什么轮流使用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[S3] D:/Codex/Kai/learning_records/RCWA_learning_checkpoint_2026-08-31.md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[O1] https://optics.ansys.com/hc/en-us/articles/4414575008787-RCWA-Solver-Introduction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第15页｜结果名称与功率定义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总导模前向、总导模净值、直接右侧通量也不能混用。功率预算必须定义所有边界的法向和入射分离方式。当前导模集合由脚本筛选，物理分类仍需审计。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报告数值前，同时交代模型、输入、目标通道与分母。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第05章 到底应该读哪一个效率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报告效率前先写一句话：“在什么模型、什么输入下，进入什么通道的功率，除以什么入射功率。”漏掉其中任何部分，两个百分数都可能无法比较。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量 | 物理含义 | 常见误用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电场强度图 | 各位置的场幅平方分布 | 把颜色最亮处当成最高传输效率 |</a:t>
            </a:r>
          </a:p>
          <a:p xmlns:a="http://schemas.openxmlformats.org/drawingml/2006/main">
            <a:r>
              <a:t>| signed T | 监视面上有方向符号的净功率除以指定源功率 | 对各面取绝对值后相加做能量守恒 |</a:t>
            </a:r>
          </a:p>
          <a:p xmlns:a="http://schemas.openxmlformats.org/drawingml/2006/main">
            <a:r>
              <a:t>| 一级衍射功率 | 周期结构向某个平面波级次分配的功率 | 直接称为有限波导导模效率 |</a:t>
            </a:r>
          </a:p>
          <a:p xmlns:a="http://schemas.openxmlformats.org/drawingml/2006/main">
            <a:r>
              <a:t>| mode1效率 | 指定本征模式的前向功率比例 | 把模式编号永久等同于TM或+1级 |</a:t>
            </a:r>
          </a:p>
          <a:p xmlns:a="http://schemas.openxmlformats.org/drawingml/2006/main">
            <a:r>
              <a:t>| 总导模前向 | 所选导模集合的前向功率和 | 与净值混用或把所有PML模式都加进去 |</a:t>
            </a:r>
          </a:p>
          <a:p xmlns:a="http://schemas.openxmlformats.org/drawingml/2006/main">
            <a:r>
              <a:t>| 总导模净值 | 前向导模功率减去后向导模功率 | 不说明背景扣除与分母 |</a:t>
            </a:r>
          </a:p>
          <a:p xmlns:a="http://schemas.openxmlformats.org/drawingml/2006/main">
            <a:r>
              <a:t>| 模式占比 | 目标模式功率除以导模前向总功率 | 把78%占比说成78%入耦效率 |</a:t>
            </a:r>
          </a:p>
          <a:p xmlns:a="http://schemas.openxmlformats.org/drawingml/2006/main">
            <a:r>
              <a:t>| 眼盒效率 | 到达指定眼盒、角域和位置的有效光功率比例 | 用局部7.836%代替整机效率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电磁功率流由时均 Poynting 矢量计算：S=½Re(E×H*)。面功率应积分法向分量，符号来自所选法向。x-normal面用Sx，y-normal面用Sy；只有在相同截面、覆盖范围、归一化和方向约定下，数值才可直接对比。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当前7.835999%的完整含义是：在记录的638 nm、有限椭圆导入源和1.40 µm横向光栅条件下，用匹配无齿参考扣除复场，再投影到同一模式基底，按脚本导模筛选条件求得的右侧散射导模净功率，占导入场直接积分入射功率的比例。它是当前模型的局部指标。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这个名义点的 mode1 前向效率是6.118999%，mode1占前向导模约78.0839%。因此“6.119%”“7.836%”“78.084%”同时成立：分子和分母不同。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当前直接积分入射功率约6.8076×10⁻¹⁵ W，净导模功率约5.3344×10⁻¹⁶ W。仿真场幅可以按线性系统缩放，fW数量级不表示真实投影光机只有如此小的功率。若在同一线性模型中把入射功率设为1 mW，7.836%对应约78.36 µW；这是比例换算，不是已测得的产品输出。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读图顺序：先看坐标轴和单位，再看属性、波长、偏振与级次/模式标签，最后看数值与归一化。|E|² 应由三个复场分量的模平方相加；不等于把复数E先平方，也不等于只看某一个分量。dB图主要显示动态范围，不能代替功率积分。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[O6] https://optics.ansys.com/hc/en-us/articles/360034902433-Using-and-understanding-Mode-Expansion-Monitors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第16页｜7.836%、6.119%、78.084% 怎么同时成立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净导模=0.07836445323348479−0.000004464025879226439=0.07835998920760556。mode1=0.06118998531577793，除以前向导模0.07836445323348479，得到0.7808385408300369。注意最后一步分母是前向总和，而不是净值。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638 nm、Wz=1.40 µm、wz=0.55 µm，均为当前后处理定义下的局部结果。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第05章 到底应该读哪一个效率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[S19] D:/Codex/Kai/stage283_284_final_geometry_wz0p45_three_point_results.json</a:t>
            </a:r>
          </a:p>
          <a:p xmlns:a="http://schemas.openxmlformats.org/drawingml/2006/main">
            <a:r>
              <a:t>D:/Codex/Kai/stage287_291_width1p5um_three_point_results.json</a:t>
            </a:r>
          </a:p>
          <a:p xmlns:a="http://schemas.openxmlformats.org/drawingml/2006/main">
            <a:r>
              <a:t>D:/Codex/Kai/stage292_293_width1p4um_wz0p55_nominal_results.json</a:t>
            </a:r>
          </a:p>
          <a:p xmlns:a="http://schemas.openxmlformats.org/drawingml/2006/main">
            <a:r>
              <a:t>D:/Codex/Kai/stage292_298_width1p4um_three_point_results.json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[O6] https://optics.ansys.com/hc/en-us/articles/360034902433-Using-and-understanding-Mode-Expansion-Monitors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第17页｜场图与 322×1×1×1×3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矩阵最后一维是否为矢量分量，取决于实际获取的数据结构。原始Ex等单分量矩阵与含E属性的数据集不同。此处是标准矢量数据集的对应解释。dB显示有助于看弱场，但不替代功率积分。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维度解释必须与数据集元数据一致。早期把末尾3解释为三个频点需要更正。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第08章 最早阶段的学习与有限阵列练习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最开始学习的是532 nm、n≈1.8的几何光学关系：全反射、目标传播角、光栅周期、RGB色散和级次方向。随后建立FDTD区域、材料、单条光栅、平面波、网格和功率监视器，逐步熟悉单位、Layout/Analysis及Visualizer。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对话中早期出现过67%占空比、约4.2%读数、210 nm高度、324–332 nm周期扫描和335 nm候选。它们属于不同模型及读取阶段。本次不把这些零散数值串成一条已核验的性能曲线；原PPT和工程文件可在索引中查到。它们最适合用来回忆操作顺序。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之后做过9条渐变光栅和 `power_y_01` 到 `power_y_10` 的截面比较，包含约45%到70%的占空比渐变，以及0.80–1.00 µm间距扫描。8月18日记录的手动1.000 µm结果是U≈55.1816%、sum≈1.20874；8月17日有符号T出现反转。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结果适合作为“比较截面数据和识别功率符号”的练习，不能直接证明扩瞳眼盒均匀性。沿同一传播路径放置的多个截面，可能反复统计同一束光；把各截面功率相加不一定是互不重叠的总出耦功率。对负功率取绝对值也不能自动修复反向传播与干涉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需要更正两处早期记录。第一，若 `P` 是标准矢量数据集，形状322×1×1×1×3表示322个x点、单一y/z/f点以及最后的三个矢量分量，不能把末尾3叫三频点。第二，空间积分需同时明确数组维度和坐标；不能把 `integrate(p_line)` 或 `integrate(qP,1)` 当作通用、已验证的空间功率公式。[O4][O5]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本阶段应该带走的是：先辨认数据，再计算指标。真正的均匀性需要定义互不重叠的空间/角度采样、相同权重和有效正功率，然后才有意义地讨论 min/max 或其他指标。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[O4] https://optics.ansys.com/hc/en-us/articles/360034409554-Introduction-to-Lumerical-datasets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第18页｜功率积分与有符号通量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官方integrate说明给出数组、积分维度和对应坐标。积分跨单点维度可能得到零。若用E/H自己构造S，需要时均因子1/2。若使用软件已定义的功率字段，按该字段约定处理，不能盲目再乘1/2。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使用软件P字段时先核对其定义，避免重复或遗漏时均因子。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第05章 到底应该读哪一个效率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[O5] https://optics.ansys.com/hc/en-us/articles/360034405814-integrate-Script-command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第19页｜界面动作与脚本对应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Apply应用设置但保留窗口。OK通常应用设置并关闭。输入变量本身不会自动扫描。脚本里的load可能切换工程，switchtolayout可能清除未保存结果，因此执行前需要看脚本内容。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后台Python可通过lumapi发送这些命令，物理求解仍由Lumerical完成。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第07章 界面和代码如何对应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| 界面动作 | 常见脚本 | 是否启动电磁求解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查看对象属性 | `getnamed` | 否 |</a:t>
            </a:r>
          </a:p>
          <a:p xmlns:a="http://schemas.openxmlformats.org/drawingml/2006/main">
            <a:r>
              <a:t>| 修改对象属性 | `setnamed` | 否 |</a:t>
            </a:r>
          </a:p>
          <a:p xmlns:a="http://schemas.openxmlformats.org/drawingml/2006/main">
            <a:r>
              <a:t>| 切换到Layout | `switchtolayout;` | 否，但会移除当前分析结果 |</a:t>
            </a:r>
          </a:p>
          <a:p xmlns:a="http://schemas.openxmlformats.org/drawingml/2006/main">
            <a:r>
              <a:t>| 点击Run | `run;` | 是 |</a:t>
            </a:r>
          </a:p>
          <a:p xmlns:a="http://schemas.openxmlformats.org/drawingml/2006/main">
            <a:r>
              <a:t>| 读取已有结果 | `getresult`、`getdata` | 通常否 |</a:t>
            </a:r>
          </a:p>
          <a:p xmlns:a="http://schemas.openxmlformats.org/drawingml/2006/main">
            <a:r>
              <a:t>| 更新模式 | `updatemodes` | 求模式，不等于重跑整个FDTD |</a:t>
            </a:r>
          </a:p>
          <a:p xmlns:a="http://schemas.openxmlformats.org/drawingml/2006/main">
            <a:r>
              <a:t>| 执行脚本文件 | `feval("...lsf");` | 取决于文件内容是否含run等操作 |</a:t>
            </a:r>
          </a:p>
          <a:p xmlns:a="http://schemas.openxmlformats.org/drawingml/2006/main">
            <a:r>
              <a:t>| 保存模型 | `save("...fsp");` | 否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Script Prompt 输入一组变量，不会自动扫描。自动扫描通常是循环“设置参数→校验→保存设置→run→读取→保存结果”。Python通过 lumapi 可以向软件发送同样的脚本；后台运行只是换了操作入口，物理求解并没有变成另一种方法。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Apply应用设置但保留对话框，OK通常应用设置并关闭。按E打开已选对象属性、双击是否打开，受实际界面和焦点影响；遇到无响应先确认选中的是什么，不应无依据推断版本有故障。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.fsp`保存工程及可能包含的计算结果；`.lsf`是可执行脚本；`.ldf`保存脚本变量；`.json`和结果表适合机器与人工读取；`.md`解释结论。文件名含COMPLETE、FINAL或ADOPTED不等于内容已验收，仍需核查保存状态和结果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最稳妥的学习节奏是先在界面完成一个参数的查看或修改，再用一行代码读回，说明预测，最后才运行。后处理脚本也要先看开头：其中的 `load()` 可能切换模型，`switchtolayout` 可能清除未保存的结果，不能把所有 `feval` 都当成只读。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第20页｜一次自动扫描的实际过程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一个循环只是把这些步骤重复执行。程序不会自行理解物理目标。扫描设计先决定范围和步长，结果出来后再由预先定义的规则选取下一步。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第一次练习可手动做一个点，再让脚本执行完全相同的流程。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第07章 界面和代码如何对应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第21页｜最早的 532 nm 与阵列练习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8月18日记录sum约1.20874。多个连续截面可能重复计数同一能流，不能直接解释成总出耦功率超过100%。真正的眼盒均匀性还需要明确互不重叠的空间和角度采样。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早期零散数值保留作操作回忆，不能拼成一条已核验的效率提升曲线。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第08章 最早阶段的学习与有限阵列练习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[S21] D:/FDTD_File/AR_Waveguide_Recent_Learning_20260817.md</a:t>
            </a:r>
          </a:p>
          <a:p xmlns:a="http://schemas.openxmlformats.org/drawingml/2006/main">
            <a:r>
              <a:t>D:/FDTD_File/learning_progress_20260818.md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第22页｜固定 335 nm 周期时的 RGB 对比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历史记录450 nm TM/TE为59.7657/57.9004，532 nm为43.2420/43.4901，638 nm为3.1385/10.5295。三个波长保持同一几何。红光下降提示单一周期难以覆盖RGB相同方向及效率需求。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图中为历史grating_orders×100口径，实际功率比例需按入射介质和角度换算。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图表原始数据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"type": "bar",</a:t>
            </a:r>
          </a:p>
          <a:p xmlns:a="http://schemas.openxmlformats.org/drawingml/2006/main">
            <a:r>
              <a:t>  "x": [</a:t>
            </a:r>
          </a:p>
          <a:p xmlns:a="http://schemas.openxmlformats.org/drawingml/2006/main">
            <a:r>
              <a:t>    "450",</a:t>
            </a:r>
          </a:p>
          <a:p xmlns:a="http://schemas.openxmlformats.org/drawingml/2006/main">
            <a:r>
              <a:t>    "532",</a:t>
            </a:r>
          </a:p>
          <a:p xmlns:a="http://schemas.openxmlformats.org/drawingml/2006/main">
            <a:r>
              <a:t>    "638"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"xtitle": "波长 / nm",</a:t>
            </a:r>
          </a:p>
          <a:p xmlns:a="http://schemas.openxmlformats.org/drawingml/2006/main">
            <a:r>
              <a:t>  "ytitle": "历史级次指标 ×100",</a:t>
            </a:r>
          </a:p>
          <a:p xmlns:a="http://schemas.openxmlformats.org/drawingml/2006/main">
            <a:r>
              <a:t>  "ymin": 0,</a:t>
            </a:r>
          </a:p>
          <a:p xmlns:a="http://schemas.openxmlformats.org/drawingml/2006/main">
            <a:r>
              <a:t>  "ymax": 70,</a:t>
            </a:r>
          </a:p>
          <a:p xmlns:a="http://schemas.openxmlformats.org/drawingml/2006/main">
            <a:r>
              <a:t>  "ystep": 10,</a:t>
            </a:r>
          </a:p>
          <a:p xmlns:a="http://schemas.openxmlformats.org/drawingml/2006/main">
            <a:r>
              <a:t>  "format": "0",</a:t>
            </a:r>
          </a:p>
          <a:p xmlns:a="http://schemas.openxmlformats.org/drawingml/2006/main">
            <a:r>
              <a:t>  "series":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"TM",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59.7657,</a:t>
            </a:r>
          </a:p>
          <a:p xmlns:a="http://schemas.openxmlformats.org/drawingml/2006/main">
            <a:r>
              <a:t>        43.242,</a:t>
            </a:r>
          </a:p>
          <a:p xmlns:a="http://schemas.openxmlformats.org/drawingml/2006/main">
            <a:r>
              <a:t>        3.1385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"#167E83"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"TE",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57.9004,</a:t>
            </a:r>
          </a:p>
          <a:p xmlns:a="http://schemas.openxmlformats.org/drawingml/2006/main">
            <a:r>
              <a:t>        43.4901,</a:t>
            </a:r>
          </a:p>
          <a:p xmlns:a="http://schemas.openxmlformats.org/drawingml/2006/main">
            <a:r>
              <a:t>        10.5295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"#B97940"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"labels": true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图上折线仅连接已计算点；未表示连续求解或额外拟合仿真。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第09章 RCWA阶段从绿光筛选到红光约束设计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8月25日记录形成了532 nm周期单元候选：周期335 nm、占空比51%、齿宽170.85 nm、高度290 nm、theta=−14°。历史读取 `grating_orders` 的目标n=+1，TM为43.2420、TE为43.4901，记录中的双偏振分数为两者较小值43.2420。这里先按历史数据口径保留数值，下面会说明归一化更正。[S1]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双偏振最小值适合“两个偏振都要满足要求”的保守筛选。它不等于非偏振光平均效率；等功率非相干混合时通常取两者平均。若光机有明确偏振权重，应按实际输入定义指标。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固定335 nm几何，历史 `grating_orders` 指标的RGB对比如下。红光明显较低，促使我们调整周期，而不是仅继续调高度。[S2]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波长 | TM目标级指标 | TE目标级指标 | 较小值 |</a:t>
            </a:r>
          </a:p>
          <a:p xmlns:a="http://schemas.openxmlformats.org/drawingml/2006/main">
            <a:r>
              <a:t>|---:|---:|---:|---:|</a:t>
            </a:r>
          </a:p>
          <a:p xmlns:a="http://schemas.openxmlformats.org/drawingml/2006/main">
            <a:r>
              <a:t>| 450 nm | 59.7657 | 57.9004 | 57.9004 |</a:t>
            </a:r>
          </a:p>
          <a:p xmlns:a="http://schemas.openxmlformats.org/drawingml/2006/main">
            <a:r>
              <a:t>| 532 nm | 43.2420 | 43.4901 | 43.2420 |</a:t>
            </a:r>
          </a:p>
          <a:p xmlns:a="http://schemas.openxmlformats.org/drawingml/2006/main">
            <a:r>
              <a:t>| 638 nm | 3.1385 | 10.5295 | 3.1385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为了大致保持48.4°内部传播角，红光周期初估约402 nm。实做过400 nm以及380、390、400、410、420 nm粗扫；407 nm在当时±1°教学角度约束内，输出角约47.432°。408 nm越过该约束，说明最高指标并不自动满足系统目标。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在407 nm、51%占空比下高度优化到243 nm，历史TM/TE指标约25.3058/25.3666。k向量40/60/80/100/120/150的比较中，以150为参考，100档TM差约0.0245个百分点，60档差约0.0947个百分点。旧记录采用0.1个百分点作为教学收敛线；这不是所有结构通用的标准。[S3]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9月1日进一步把名义偏振平衡、±5 nm宽高扰动、输出角余量放在一起比较。−14°虽有较高指标，但输出角接近约束边界；−13°更居中。后续形成过407 nm、齿宽约210 nm、高度175 nm的红光RCWA候选，作为有限FDTD的起点。[S4]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这里有一项重要更正。Ansys文档明确：`grating_power` 是各衍射级占总入射功率的比例；`grating_orders` 使用不同归一化，二者关系为 grating_order=grating_power×n_in×cosθ_in。两者都可带级次标签。旧教学中把“具体效率只能看orders”说得过于绝对，需要修正。[O2]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因此，历史表适合按原口径追溯，但今后要用 `grating_power` 报实际级次功率比例，并在同一角度、介质、偏振、频率下检查关系。固定角度时共同的比例因子不改变候选排名；扫角度或介质时，比例因子也变，必须重新核算。不能把不同归一化的数字混入同一张效率表。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[S1] D:/Codex/Kai/learning_records/RCWA_learning_checkpoint_2026-08-25.md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D:/Codex/Kai/learning_records/RCWA_learning_checkpoint_2026-08-27.md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[O2] https://optics.ansys.com/hc/en-us/articles/12959229278611-RCWA-Solver-Simulation-Object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第23页｜红光 RCWA 候选的约束选择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407 nm、51%占空比下曾把高度调到243 nm，历史TM/TE指标约25.3058/25.3666。之后针对公差与角余量调整成另一组候选，不能把两个阶段混成同一最优值。−13°相对当时的−14°约束更居中。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几何候选要同时满足方向、效率和误差余量。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第09章 RCWA阶段从绿光筛选到红光约束设计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[S3] D:/Codex/Kai/learning_records/RCWA_learning_checkpoint_2026-08-31.md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D:/FDTD_File/RCWA_learning_checkpoint_2026-09-01.md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第24页｜RCWA 两种结果的归一化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公式与含义按Ansys RCWA对象文档核对。例子的0.40是解释换算而设定的数值，并非某个历史模型实测值。实际取值还应核对频率、传播方向、偏振和级次索引。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历史“具体效率只能看orders”的说法需要更正。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第09章 RCWA阶段从绿光筛选到红光约束设计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[O2] https://optics.ansys.com/hc/en-us/articles/12959229278611-RCWA-Solver-Simulation-Object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第25页｜有限 8 齿 FDTD 的起点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早期power_top结果不可读不能简单当作零功率。应先确认监视器是否启用、是否产生结果、对象名称和返回属性。直到测量方法稳定后才据此比较候选。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主仿真结束与后处理有效，需要分别检查。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第10章 有限二维FDTD为什么一开始读不稳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9月1日建立有限8齿模型：638 nm、407 nm周期、210 nm齿宽、175 nm齿高及10 nm局部网格。主仿真完成过，但 `mode_right` 的Calculate报错、`power_top`结果不可读；这说明“求解结束”和“后处理有效”是两个检查点。随后将模型坐标从早期x-z映射到x-y，重新检查偏振、模式截面和监视器关联。[S5]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有限模型中，右侧功率监视器会看到穿过截面的所有场。斜入射平面波、辐射、近场或背景可能混入。早期优化得到的408 nm、53%占空比、235 nm高度等，曾依赖尚不稳定的模式读数，只能视作当时的候选。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Stage39改用Gaussian源后，距光栅0.8/1.0/1.2 µm处的TM前向读数仍分别约0.02393%、0.01829%、0.00853%。Stage40–41把公共区域扩大到16 µm，再测2/3/4 µm，读数约0.02623%、0.02118%、0.01031%，仍明显随位置变化。右侧总功率却较稳定，因此应检查模式、截面和材料，而不能继续按最高读数调几何。[S6]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Stage42–44检查边界与RCWA层映射。Stage44脚本明确设置core与substrate均为n=1.8，历史合计高折射率厚度达到850 nm。一个对象名叫“300 nm core”，并不意味着整个实际导光层只有300 nm。后续基底延伸到PML的设置也会影响“模式究竟是否物理束缚”的判断。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Stage45采用当时求得的TM基模 n_eff≈1.64452，结合638 nm、−13°计算初始周期约341.27 nm，再做有限器件扫描。这一转折的逻辑是：先确定传播通道和测量方法，再寻找几何最优点。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[S5] D:/Codex/Kai/learning_records/FDTD_learning_checkpoint_2026-09-01.md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第26页｜报告面移动揭示测量不稳定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Stage39的0.8/1.0/1.2 µm读数是0.0239297/0.0182883/0.00852685%。Stage40–41另一个扩大区域模型得到0.0262269/0.0211814/0.0103137%。两组几何域不同，图只画第一组，避免误接成同一曲线。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同一物理通道的读数随报告位置变化很大时，先调查测量定义。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图表原始数据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"type": "scatter",</a:t>
            </a:r>
          </a:p>
          <a:p xmlns:a="http://schemas.openxmlformats.org/drawingml/2006/main">
            <a:r>
              <a:t>  "x": [</a:t>
            </a:r>
          </a:p>
          <a:p xmlns:a="http://schemas.openxmlformats.org/drawingml/2006/main">
            <a:r>
              <a:t>    0.8,</a:t>
            </a:r>
          </a:p>
          <a:p xmlns:a="http://schemas.openxmlformats.org/drawingml/2006/main">
            <a:r>
              <a:t>    1,</a:t>
            </a:r>
          </a:p>
          <a:p xmlns:a="http://schemas.openxmlformats.org/drawingml/2006/main">
            <a:r>
              <a:t>    1.2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"xtitle": "报告面间距 / µm",</a:t>
            </a:r>
          </a:p>
          <a:p xmlns:a="http://schemas.openxmlformats.org/drawingml/2006/main">
            <a:r>
              <a:t>  "ytitle": "模式读数 / %",</a:t>
            </a:r>
          </a:p>
          <a:p xmlns:a="http://schemas.openxmlformats.org/drawingml/2006/main">
            <a:r>
              <a:t>  "xmin": 0.7,</a:t>
            </a:r>
          </a:p>
          <a:p xmlns:a="http://schemas.openxmlformats.org/drawingml/2006/main">
            <a:r>
              <a:t>  "xmax": 1.3,</a:t>
            </a:r>
          </a:p>
          <a:p xmlns:a="http://schemas.openxmlformats.org/drawingml/2006/main">
            <a:r>
              <a:t>  "xstep": 0.1,</a:t>
            </a:r>
          </a:p>
          <a:p xmlns:a="http://schemas.openxmlformats.org/drawingml/2006/main">
            <a:r>
              <a:t>  "ymin": 0,</a:t>
            </a:r>
          </a:p>
          <a:p xmlns:a="http://schemas.openxmlformats.org/drawingml/2006/main">
            <a:r>
              <a:t>  "ymax": 0.03,</a:t>
            </a:r>
          </a:p>
          <a:p xmlns:a="http://schemas.openxmlformats.org/drawingml/2006/main">
            <a:r>
              <a:t>  "ystep": 0.005,</a:t>
            </a:r>
          </a:p>
          <a:p xmlns:a="http://schemas.openxmlformats.org/drawingml/2006/main">
            <a:r>
              <a:t>  "format": "0.000",</a:t>
            </a:r>
          </a:p>
          <a:p xmlns:a="http://schemas.openxmlformats.org/drawingml/2006/main">
            <a:r>
              <a:t>  "series":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"Stage39",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0.0239297,</a:t>
            </a:r>
          </a:p>
          <a:p xmlns:a="http://schemas.openxmlformats.org/drawingml/2006/main">
            <a:r>
              <a:t>        0.0182883,</a:t>
            </a:r>
          </a:p>
          <a:p xmlns:a="http://schemas.openxmlformats.org/drawingml/2006/main">
            <a:r>
              <a:t>        0.00852685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"#167E83"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"labels": false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图上折线仅连接已计算点；未表示连续求解或额外拟合仿真。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第10章 有限二维FDTD为什么一开始读不稳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[S6] D:/Codex/Kai/Lumerical_AR_waveguide_learning_summary_and_plan_2026-09-12.md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第27页｜材料层核对与新的周期起点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此处按空气入射及所选+1坐标约定代入。基底延伸到PML还会影响模式是否为物理束缚导模，后期分类仍需审计。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真实材料截面决定模式，不能只按对象名字理解波导。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第10章 有限二维FDTD为什么一开始读不稳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[S6] D:/Codex/Kai/Lumerical_AR_waveguide_learning_summary_and_plan_2026-09-12.md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第28页｜Stage46–90 的验证主线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Bloch结果约638.1±0.1 nm共振用于物理交叉验证。这些结论与当时模型绑定，不等于当前三维器件角度或带宽已经通过。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历史Bloch预测角−12.9796°与有限峰−13.0358°相差约0.0562°。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第11章 Stage46至104完成了哪些物理验证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Stage46–54对周期、占空比和高度作粗细扫描；Stage55–56核对网格精度；Stage57–68研究波长范围以及周期、占空比、高度单变量扰动。Stage69–72把多个制造误差同时组合，因为每个参数单独可接受，不代表误差一起出现时仍可接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Stage73–80研究角度与波长联合响应及相位匹配。Stage81–90使用Bloch单元进一步解释响应峰：历史报告给出约638.1±0.1 nm共振，Bloch预测入射角−12.9796°与有限12齿最佳角−13.0358°相差约0.0562°。这是一项“峰值来源”的交叉验证，不是又一种整机效率。[S7]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91建立闭合功率框，历史右行TM约25.5208%，相对于当时右侧总功率的模式占比约99.71%；还发现明显向下功率。旧报告把顶面净流入直接当作纯入射功率时，应保留限定：存在反射时顶面净通量包含入射与反射的合成，不能不经分离就等同于源入射功率。[S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Stage92增加底部区域0.5 µm后，右行TM只变化约0.0088个百分点，说明当时主要向下功率不是单纯靠加深区域就能消除。随后Stage93–95研究倾斜/非对称光栅；5 nm与3.5 nm网格的TM约43.4619%与43.5041%，差约0.0422个百分点。[S9]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Stage96–104继续局部高度、shift、占空比和带宽比较，形成过约58%的历史读数。后续源状态与带宽审计改变了可靠比较条件；本手册不把这段历史读数与之后修正源得到的32%或最终三维7.8%直接比较。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这一阶段要掌握三种不同问题：峰为何出现由相位匹配解释；能量去哪里由功率账本解释；数值能否信由收敛实验解释。只有最后一个问题通过，前两个解释才有可靠基础。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[S7] D:/Codex/Kai/stage90_bloch_validation_final_summary_2026-09-23.md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第29页｜功率预算与倾斜光栅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加深底部后变化小，只支持当时局部测试范围的判断。不能从单次实验推出所有PML距离都无关。随后约58%的历史值经过源状态与带宽审计后，比较条件发生变化。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功率去向、几何增益和数值误差需要分别解释。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第11章 Stage46至104完成了哪些物理验证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[S8] D:/Codex/Kai/stage91_finite_grating_power_budget_2026-09-23.md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D:/Codex/Kai/stage92_substrate_depth_validation_2026-09-23.md</a:t>
            </a:r>
          </a:p>
          <a:p xmlns:a="http://schemas.openxmlformats.org/drawingml/2006/main">
            <a:r>
              <a:t>D:/Codex/Kai/stage95_slanted_grating_mesh_convergence_2026-09-24.md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第30页｜Stage105 的光源状态纠错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这是一次有效性修复。335.5 nm、−13°、638 nm的历史读数约32.4016%，波长峰约627.09 nm。后来周期334 nm、角度约−13.6°得到另一候选。不同源条件下的58%与32%不能直接当作性能升降。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参数变化没有影响时，先检查启用对象、当前结果版本与求解是否重跑。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第12章 Stage105至199形成二维设计闭环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Stage105发现不同入射角得到相同结果，排查到Gaussian `source` 被禁用。光源自身的预览场会变化，并不保证它参与求解。启用后再运行，并由源场相位斜率验证0°与−20°，后者反算约−19.9981°。这解释了“我改了参数为什么结果不动”。[S10]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Stage107–112在有效源条件下重做角度、波长与周期联合比较。335.5 nm周期、−13°、638 nm的历史TM约32.4016%；波长峰约627.09 nm。周期改到334 nm后联合角度约−13.6°，3.5 nm网格结果约32.8656%。公式提供初值，有限结构的相干叠加和光束覆盖决定实际响应，不能只按波长比例机械放大周期。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113–143开展能量、监视面、制造误差与稳健中心研究。旧公差窗口最低余量很小，调整中心后，历史16个角点均满足95%保持率，最差约96.40%。这说明优化可以改变“对误差的敏感性”，而不只是提高名义点。[S11]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Stage144–158检查新中心的角谱响应并扩展齿数，进入24齿阶段；周期和角度也重新变化。Stage159高度扫描曾漏同步对象中心，导致向下侵入波导：那次高值不能当作纯齿高优化成果。Stage160起固定齿底−3.75 nm，再比较宽、高、shift和周期。[S12]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Stage175–181是另一项关键审计。同一旧二维结构，源span=20 nm时中心读数约78.37%，span明确设为0时约59.9241%。这是激励设置不同产生的差异，不能记录为几何提升。FDTD宽带本身并非不能用；必须确认频率相关场形、入射条件、归一化与逐单色结果一致。后来单色扫描成为可比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Stage182–192最终二维候选记录为：Λ=328.75 nm、w=185 nm、h=310 nm、shift=−240 nm、24齿、−15.1°、638 nm、3.5 nm生产网格。mode1约60.6064%，TM前向和约62.0770%，直接右侧约61.8808%。mode1和高阶mode3对报告面有互补变化，因此需要同时报告单模、总导模和直接功率。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Stage193–199在该二维几何上得到历史3 dB角宽约5.4133°、固定角度单色3 dB波长宽约27.538 nm，并用波长—角度脊线验证相位匹配。它们属于这版二维结构。当前三维1.40 µm、237 nm高度候选不能直接继承这些带宽和公差数字。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[S10] D:/Codex/Kai/stage105_to_stage112_phase_summary_2026-09-27.md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第31页｜稳健中心与高度扫描纠错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如果改变h却没有同步中心y，底部位置可能发生变化。这会同时改变刻蚀深度，无法把效率变化归因于纯齿高。固定shift与固定侧壁角也对应不同约束。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单变量实验需要固定真实物理界面，不能只固定一个脚本变量名。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第12章 Stage105至199形成二维设计闭环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[S11] D:/Codex/Kai/stage137_143_robust_center_adoption_checkpoint_2026-09-28.md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[S12] D:/Codex/Kai/LUMERICAL_CHECKPOINT_STAGE175B_2026-09-29.md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第32页｜光源带宽改变了比较条件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FDTD可以做宽带仿真。这里的问题是该模型不同激励设置所得中心值差异明显，需要解释。后续采用逐单色扫描作为可比基准。不能把这次审计概括为所有宽带FDTD都无效。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图中比较的是两种激励设置，不能记作几何效率提升。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图表原始数据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"type": "bar",</a:t>
            </a:r>
          </a:p>
          <a:p xmlns:a="http://schemas.openxmlformats.org/drawingml/2006/main">
            <a:r>
              <a:t>  "x": [</a:t>
            </a:r>
          </a:p>
          <a:p xmlns:a="http://schemas.openxmlformats.org/drawingml/2006/main">
            <a:r>
              <a:t>    "span 20 nm",</a:t>
            </a:r>
          </a:p>
          <a:p xmlns:a="http://schemas.openxmlformats.org/drawingml/2006/main">
            <a:r>
              <a:t>    "span 0 nm"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"xtitle": "同一旧二维几何的源设置",</a:t>
            </a:r>
          </a:p>
          <a:p xmlns:a="http://schemas.openxmlformats.org/drawingml/2006/main">
            <a:r>
              <a:t>  "ytitle": "中心波长历史读数 / %",</a:t>
            </a:r>
          </a:p>
          <a:p xmlns:a="http://schemas.openxmlformats.org/drawingml/2006/main">
            <a:r>
              <a:t>  "ymin": 0,</a:t>
            </a:r>
          </a:p>
          <a:p xmlns:a="http://schemas.openxmlformats.org/drawingml/2006/main">
            <a:r>
              <a:t>  "ymax": 90,</a:t>
            </a:r>
          </a:p>
          <a:p xmlns:a="http://schemas.openxmlformats.org/drawingml/2006/main">
            <a:r>
              <a:t>  "ystep": 10,</a:t>
            </a:r>
          </a:p>
          <a:p xmlns:a="http://schemas.openxmlformats.org/drawingml/2006/main">
            <a:r>
              <a:t>  "format": "0",</a:t>
            </a:r>
          </a:p>
          <a:p xmlns:a="http://schemas.openxmlformats.org/drawingml/2006/main">
            <a:r>
              <a:t>  "series":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"历史中心值",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78.37,</a:t>
            </a:r>
          </a:p>
          <a:p xmlns:a="http://schemas.openxmlformats.org/drawingml/2006/main">
            <a:r>
              <a:t>        59.9241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"#167E83"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"labels": true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图上折线仅连接已计算点；未表示连续求解或额外拟合仿真。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第12章 Stage105至199形成二维设计闭环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[S12] D:/Codex/Kai/LUMERICAL_CHECKPOINT_STAGE175B_2026-09-29.md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[O3] https://optics.ansys.com/hc/en-us/articles/360034383014-Import-source-Simulation-object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第33页｜最后一版二维候选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mode1和高阶mode3随报告面有互补变化，所以要同时保留单模、总导模与直接功率。后期三维齿高237 nm、齿宽190 nm、Wz1.40 µm是另一版候选。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二维假设与当前三维有限宽度、有限光束条件不同。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第12章 Stage105至199形成二维设计闭环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[S12] D:/Codex/Kai/LUMERICAL_CHECKPOINT_STAGE175B_2026-09-29.md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第34页｜二维带宽与系统 FOV 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固定角度带宽和逐波长重新寻峰得到的上包络属于不同问题。系统FOV还包含光机、波导可传播角域与出耦限制。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几何、维度或光束条件改变后，需要明确哪些结论仍可使用。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第12章 Stage105至199形成二维设计闭环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[S12] D:/Codex/Kai/LUMERICAL_CHECKPOINT_STAGE175B_2026-09-29.md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第35页｜二维到三维的桥接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三维周期桥接与后来有限z宽度加PML是不同模型。模态数增加会引入新的数值模式，必须检查束缚性、损耗、偏振和边界，而不是全部计入目标导模。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每次升级模型，都要先检查变化的假设和测量方式。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第13章 Stage200至229为什么转入三维测量重建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二维源与三维源的角度和偏振映射必须检查。Stage200–203先采用z周期桥接，验证phi方向、z网格、周期单元宽度和源归一化。dz从20降到10 nm对直接右侧功率影响很小；0.2变0.4 µm的周期宽度也基本不改变归一化结果，但二维与三维仍有约5.27个百分点差异。结论应是“内部某些数值设置已稳定，跨模型差异尚不能混报”。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Stage204–206比较8/16/32个模式。总模态和不完全等于直接功率，提示辐射连续谱与反向分量的存在。更多模式不保证所有新增模式都是应计入目标的导模。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Stage207把z方向改为有限宽和PML，直接右侧功率约6.4357%。检查发现横向边缘功率不衰减，斜入射无限平面波自身的x向通量也穿过输出面。于是Stage208建立完全匹配的无齿参考，Stage209做复场相减。[S13]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$$E_s=E_p-E_r\quad H_s=H_p-H_r$$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p是有齿总场，r是无齿参考，s是相对于参考的散射场。因为功率含E与H的乘积，P_p−P_r还包含干涉交叉项，并不一般等于P_s。必须先在一致网格、相位和源条件下减复场，再计算功率。相干分解重构接近机器精度只证明代数一致，不等于整个模型已经物理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Stage210–220在同一模式基底上分别投影总场、参考场和散射场，并比较模式数及z域。平面波条件下按光栅宽换算的结果仍随域大小变化，因此停止无边界扩域，改用定义清楚的有限光束。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Stage221起导入椭圆场：取Stage198二维源的x分布、相位及E/H，再乘z向Gaussian包络。对比wz=0.45/0.55/0.65 µm时直接积分入射场作为归一化分母。旧结构的净导模指标约1%量级，不能与二维60%或RCWA级次值比较。[S14]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也保留一项物理限制：把二维E/H都乘以横向Gaussian包络，是当前使用的源构造方法，不自动等同于经过独立验证的严格三维聚焦光束。尤其wz与波长相近时，要检查传播方向、矢量场一致性、焦点和空域传播；导入数据功率积分可重现，并不能替代真实注入场验证。[O3]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本阶段最重要的成果是一套可追溯测量链：输入场→有齿与无齿参考→复场相减→同基底投影→指定导模求和→按同一入射功率归一化。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第36页｜背景扣除必须保留复场相位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Stage207直接右侧约6.4357%，但无限平面波背景自身也贡献x方向通量。Stage208建立无齿参考，Stage209进行复场分离。相干重构误差小主要证明代数和数据处理一致。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先在一致采样上减复场，再计算目标散射功率。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第13章 Stage200至229为什么转入三维测量重建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[S13] D:/Codex/Kai/stage207_209_finite_width_background_validation_summary.md</a:t>
            </a:r>
          </a:p>
          <a:p xmlns:a="http://schemas.openxmlformats.org/drawingml/2006/main">
            <a:r>
              <a:t>D:/Codex/Kai/stage210_211_fixed_mode_validation_summary.md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第37页｜固定模态基底的测量链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Stage210–220通过固定基底减少各次独立求模带来的基底差异。平面波下按口径换算的结果仍随z域变化，于是转入有限光束。更多模式不能替代物理分类。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小残差支持内部一致性，仍需检查物理导模分类和源的实际传播。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第13章 Stage200至229为什么转入三维测量重建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[S13] D:/Codex/Kai/stage207_209_finite_width_background_validation_summary.md</a:t>
            </a:r>
          </a:p>
          <a:p xmlns:a="http://schemas.openxmlformats.org/drawingml/2006/main">
            <a:r>
              <a:t>D:/Codex/Kai/stage210_211_fixed_mode_validation_summary.md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[O6] https://optics.ansys.com/hc/en-us/articles/360034902433-Using-and-understanding-Mode-Expansion-Monitors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第38页｜有限椭圆光束与光斑半径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Stage221开始使用有限椭圆导入源，直接对输入场积分作为分母。这个建模方法需要检查传播方向、纵向场、焦点和空域传播。改变波长时要处理频率相关的相位及E/H。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导入数据积分可复现，不能单独证明它是真实、严格的三维聚焦光束。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第13章 Stage200至229为什么转入三维测量重建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[S14] D:/Codex/Kai/stage221_226_finite_elliptical_gaussian_validation_summary.md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[O3] https://optics.ansys.com/hc/en-us/articles/360034383014-Import-source-Simulation-object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第39页｜三点齿高检验暴露了强烈趋势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净导模指标分别为300 nm的2.195387%、310 nm的1.308103%、320 nm的0.620073%。此结果说明310 nm不是三维有限光束下的稳健中心。不能因为300 nm最好就立即宣称它为最优。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固定Λ328.75 nm、w185 nm、shift−240 nm、Wz0.75 µm、wz0.65 µm。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图表原始数据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"type": "scatter",</a:t>
            </a:r>
          </a:p>
          <a:p xmlns:a="http://schemas.openxmlformats.org/drawingml/2006/main">
            <a:r>
              <a:t>  "x": [</a:t>
            </a:r>
          </a:p>
          <a:p xmlns:a="http://schemas.openxmlformats.org/drawingml/2006/main">
            <a:r>
              <a:t>    300,</a:t>
            </a:r>
          </a:p>
          <a:p xmlns:a="http://schemas.openxmlformats.org/drawingml/2006/main">
            <a:r>
              <a:t>    310,</a:t>
            </a:r>
          </a:p>
          <a:p xmlns:a="http://schemas.openxmlformats.org/drawingml/2006/main">
            <a:r>
              <a:t>    320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"xtitle": "齿高 / nm",</a:t>
            </a:r>
          </a:p>
          <a:p xmlns:a="http://schemas.openxmlformats.org/drawingml/2006/main">
            <a:r>
              <a:t>  "ytitle": "总净导模指标 / %",</a:t>
            </a:r>
          </a:p>
          <a:p xmlns:a="http://schemas.openxmlformats.org/drawingml/2006/main">
            <a:r>
              <a:t>  "xmin": 290,</a:t>
            </a:r>
          </a:p>
          <a:p xmlns:a="http://schemas.openxmlformats.org/drawingml/2006/main">
            <a:r>
              <a:t>  "xmax": 330,</a:t>
            </a:r>
          </a:p>
          <a:p xmlns:a="http://schemas.openxmlformats.org/drawingml/2006/main">
            <a:r>
              <a:t>  "xstep": 10,</a:t>
            </a:r>
          </a:p>
          <a:p xmlns:a="http://schemas.openxmlformats.org/drawingml/2006/main">
            <a:r>
              <a:t>  "ymin": 0,</a:t>
            </a:r>
          </a:p>
          <a:p xmlns:a="http://schemas.openxmlformats.org/drawingml/2006/main">
            <a:r>
              <a:t>  "ymax": 2.5,</a:t>
            </a:r>
          </a:p>
          <a:p xmlns:a="http://schemas.openxmlformats.org/drawingml/2006/main">
            <a:r>
              <a:t>  "ystep": 0.5,</a:t>
            </a:r>
          </a:p>
          <a:p xmlns:a="http://schemas.openxmlformats.org/drawingml/2006/main">
            <a:r>
              <a:t>  "format": "0.0",</a:t>
            </a:r>
          </a:p>
          <a:p xmlns:a="http://schemas.openxmlformats.org/drawingml/2006/main">
            <a:r>
              <a:t>  "series":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"三点高度检验",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2.195387,</a:t>
            </a:r>
          </a:p>
          <a:p xmlns:a="http://schemas.openxmlformats.org/drawingml/2006/main">
            <a:r>
              <a:t>        1.308103,</a:t>
            </a:r>
          </a:p>
          <a:p xmlns:a="http://schemas.openxmlformats.org/drawingml/2006/main">
            <a:r>
              <a:t>        0.620073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"#167E83"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"labels": true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图上折线仅连接已计算点；未表示连续求解或额外拟合仿真。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第14章 Stage230至280的几何优化是怎样决策的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先在当时的310 nm齿高和wz=0.65 µm下比较z向光栅宽度。0.75 µm附近得到较好局部结果，0.73与0.77 µm用于检查邻域与±20 nm扰动。这个局部最优是在当时高度、光斑和目标函数下成立的，不能推广成所有设计都应取0.75 µm。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随后本来只想验证齿高±10 nm。300、310、320 nm的净导模指标约2.1954%、1.3081%、0.6201%，趋势很强，说明310 nm在三维有限光束下不是稳健中心。于是以有限步数向下找峰，而不是直接做庞大全参数扫描。[S15]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齿高 nm | 净导模指标 % | 当时的判断 |</a:t>
            </a:r>
          </a:p>
          <a:p xmlns:a="http://schemas.openxmlformats.org/drawingml/2006/main">
            <a:r>
              <a:t>|---:|---:|---|</a:t>
            </a:r>
          </a:p>
          <a:p xmlns:a="http://schemas.openxmlformats.org/drawingml/2006/main">
            <a:r>
              <a:t>| 320 | 0.620073 | 比310明显差 |</a:t>
            </a:r>
          </a:p>
          <a:p xmlns:a="http://schemas.openxmlformats.org/drawingml/2006/main">
            <a:r>
              <a:t>| 310 | 1.308103 | 原二维迁移中心 |</a:t>
            </a:r>
          </a:p>
          <a:p xmlns:a="http://schemas.openxmlformats.org/drawingml/2006/main">
            <a:r>
              <a:t>| 300 | 2.195387 | 降低高度有效 |</a:t>
            </a:r>
          </a:p>
          <a:p xmlns:a="http://schemas.openxmlformats.org/drawingml/2006/main">
            <a:r>
              <a:t>| 290 | 3.108422 | 继续检查下降方向 |</a:t>
            </a:r>
          </a:p>
          <a:p xmlns:a="http://schemas.openxmlformats.org/drawingml/2006/main">
            <a:r>
              <a:t>| 280 | 4.018999 | 仍在上升 |</a:t>
            </a:r>
          </a:p>
          <a:p xmlns:a="http://schemas.openxmlformats.org/drawingml/2006/main">
            <a:r>
              <a:t>| 270 | 4.859499 | 仍在上升 |</a:t>
            </a:r>
          </a:p>
          <a:p xmlns:a="http://schemas.openxmlformats.org/drawingml/2006/main">
            <a:r>
              <a:t>| 260 | 5.564175 | 增益开始缩小 |</a:t>
            </a:r>
          </a:p>
          <a:p xmlns:a="http://schemas.openxmlformats.org/drawingml/2006/main">
            <a:r>
              <a:t>| 250 | 6.053978 | 继续夹峰 |</a:t>
            </a:r>
          </a:p>
          <a:p xmlns:a="http://schemas.openxmlformats.org/drawingml/2006/main">
            <a:r>
              <a:t>| 240 | 6.278298 | 接近峰 |</a:t>
            </a:r>
          </a:p>
          <a:p xmlns:a="http://schemas.openxmlformats.org/drawingml/2006/main">
            <a:r>
              <a:t>| 230 | 6.214362 | 出现下降，已夹住峰 |</a:t>
            </a:r>
          </a:p>
          <a:p xmlns:a="http://schemas.openxmlformats.org/drawingml/2006/main">
            <a:r>
              <a:t>| 237 | 6.287361 | 实跑验证局部候选后停止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此表固定Λ=328.75 nm、w=185 nm、shift=−240 nm、Wz=0.75 µm、wz=0.65 µm。不能把它和改变光斑后的结果混成一张纯高度曲线。237.38 nm拟合值不是另一次真实仿真，也不意味着制造必须做到小数点后两位。[S16]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高度改动后，用180/185/190 nm复核齿宽。总净导模分别约6.2433%、6.2874%、6.3000%；mode1在185 nm略高。选择190 nm意味着当前主目标偏向总净导模，而不是最大单模纯度。三点拟合建议约189.51 nm，预测余量很小，因此没有继续亚纳米扫参。[S17]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最后固定w=190 nm、h=237 nm，扫描top shift从−240到−300 nm。总净导模在−290 nm约6.4770%，−300 nm略低；mode1则约在−280 nm更好。选择−290 nm作为总净导模目标的候选，并保留−280 nm这一不同目标的备选。原Wz=0.75 µm条件下，shift±10 nm最差端下降约0.202%，是局部容差证据，不能自动套给后来1.40 µm版本。[S18]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[S15] D:/Codex/Kai/STAGE242_245_HEIGHT_TOLERANCE_VALIDATION_2026-10-12.md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第40页｜齿高扫描在约 237 nm 附近停止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完整数据：230 6.214362，237 6.287361，240 6.278298，250 6.053978，260 5.564175，270 4.859499，280 4.018999，290 3.108422，300 2.195387，310 1.308103，320 0.620073，单位分别nm和%。所有点维持本页上一页固定条件。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237 nm约6.287361%。拟合237.38 nm只用于选点，不代表另一次真实仿真。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图表原始数据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"type": "scatter",</a:t>
            </a:r>
          </a:p>
          <a:p xmlns:a="http://schemas.openxmlformats.org/drawingml/2006/main">
            <a:r>
              <a:t>  "x": [</a:t>
            </a:r>
          </a:p>
          <a:p xmlns:a="http://schemas.openxmlformats.org/drawingml/2006/main">
            <a:r>
              <a:t>    230,</a:t>
            </a:r>
          </a:p>
          <a:p xmlns:a="http://schemas.openxmlformats.org/drawingml/2006/main">
            <a:r>
              <a:t>    237,</a:t>
            </a:r>
          </a:p>
          <a:p xmlns:a="http://schemas.openxmlformats.org/drawingml/2006/main">
            <a:r>
              <a:t>    240,</a:t>
            </a:r>
          </a:p>
          <a:p xmlns:a="http://schemas.openxmlformats.org/drawingml/2006/main">
            <a:r>
              <a:t>    250,</a:t>
            </a:r>
          </a:p>
          <a:p xmlns:a="http://schemas.openxmlformats.org/drawingml/2006/main">
            <a:r>
              <a:t>    260,</a:t>
            </a:r>
          </a:p>
          <a:p xmlns:a="http://schemas.openxmlformats.org/drawingml/2006/main">
            <a:r>
              <a:t>    270,</a:t>
            </a:r>
          </a:p>
          <a:p xmlns:a="http://schemas.openxmlformats.org/drawingml/2006/main">
            <a:r>
              <a:t>    280,</a:t>
            </a:r>
          </a:p>
          <a:p xmlns:a="http://schemas.openxmlformats.org/drawingml/2006/main">
            <a:r>
              <a:t>    290,</a:t>
            </a:r>
          </a:p>
          <a:p xmlns:a="http://schemas.openxmlformats.org/drawingml/2006/main">
            <a:r>
              <a:t>    300,</a:t>
            </a:r>
          </a:p>
          <a:p xmlns:a="http://schemas.openxmlformats.org/drawingml/2006/main">
            <a:r>
              <a:t>    310,</a:t>
            </a:r>
          </a:p>
          <a:p xmlns:a="http://schemas.openxmlformats.org/drawingml/2006/main">
            <a:r>
              <a:t>    320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"xtitle": "齿高 / nm",</a:t>
            </a:r>
          </a:p>
          <a:p xmlns:a="http://schemas.openxmlformats.org/drawingml/2006/main">
            <a:r>
              <a:t>  "ytitle": "总净导模指标 / %",</a:t>
            </a:r>
          </a:p>
          <a:p xmlns:a="http://schemas.openxmlformats.org/drawingml/2006/main">
            <a:r>
              <a:t>  "xmin": 220,</a:t>
            </a:r>
          </a:p>
          <a:p xmlns:a="http://schemas.openxmlformats.org/drawingml/2006/main">
            <a:r>
              <a:t>  "xmax": 330,</a:t>
            </a:r>
          </a:p>
          <a:p xmlns:a="http://schemas.openxmlformats.org/drawingml/2006/main">
            <a:r>
              <a:t>  "xstep": 20,</a:t>
            </a:r>
          </a:p>
          <a:p xmlns:a="http://schemas.openxmlformats.org/drawingml/2006/main">
            <a:r>
              <a:t>  "ymin": 0,</a:t>
            </a:r>
          </a:p>
          <a:p xmlns:a="http://schemas.openxmlformats.org/drawingml/2006/main">
            <a:r>
              <a:t>  "ymax": 7,</a:t>
            </a:r>
          </a:p>
          <a:p xmlns:a="http://schemas.openxmlformats.org/drawingml/2006/main">
            <a:r>
              <a:t>  "ystep": 1,</a:t>
            </a:r>
          </a:p>
          <a:p xmlns:a="http://schemas.openxmlformats.org/drawingml/2006/main">
            <a:r>
              <a:t>  "format": "0.0",</a:t>
            </a:r>
          </a:p>
          <a:p xmlns:a="http://schemas.openxmlformats.org/drawingml/2006/main">
            <a:r>
              <a:t>  "series":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"已计算点",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6.214362,</a:t>
            </a:r>
          </a:p>
          <a:p xmlns:a="http://schemas.openxmlformats.org/drawingml/2006/main">
            <a:r>
              <a:t>        6.287361,</a:t>
            </a:r>
          </a:p>
          <a:p xmlns:a="http://schemas.openxmlformats.org/drawingml/2006/main">
            <a:r>
              <a:t>        6.278298,</a:t>
            </a:r>
          </a:p>
          <a:p xmlns:a="http://schemas.openxmlformats.org/drawingml/2006/main">
            <a:r>
              <a:t>        6.053978,</a:t>
            </a:r>
          </a:p>
          <a:p xmlns:a="http://schemas.openxmlformats.org/drawingml/2006/main">
            <a:r>
              <a:t>        5.564175,</a:t>
            </a:r>
          </a:p>
          <a:p xmlns:a="http://schemas.openxmlformats.org/drawingml/2006/main">
            <a:r>
              <a:t>        4.859499,</a:t>
            </a:r>
          </a:p>
          <a:p xmlns:a="http://schemas.openxmlformats.org/drawingml/2006/main">
            <a:r>
              <a:t>        4.018999,</a:t>
            </a:r>
          </a:p>
          <a:p xmlns:a="http://schemas.openxmlformats.org/drawingml/2006/main">
            <a:r>
              <a:t>        3.108422,</a:t>
            </a:r>
          </a:p>
          <a:p xmlns:a="http://schemas.openxmlformats.org/drawingml/2006/main">
            <a:r>
              <a:t>        2.195387,</a:t>
            </a:r>
          </a:p>
          <a:p xmlns:a="http://schemas.openxmlformats.org/drawingml/2006/main">
            <a:r>
              <a:t>        1.308103,</a:t>
            </a:r>
          </a:p>
          <a:p xmlns:a="http://schemas.openxmlformats.org/drawingml/2006/main">
            <a:r>
              <a:t>        0.620073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"#167E83"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"labels": false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图上折线仅连接已计算点；未表示连续求解或额外拟合仿真。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第14章 Stage230至280的几何优化是怎样决策的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[S16] D:/Codex/Kai/STAGE261_262_HEIGHT237NM_VALIDATION_2026-10-13.md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第41页｜齿宽选择取决于目标函数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固定高度237 nm、其他条件同当时0.75 µm光栅与0.65 µm光斑基准。拟合点没有真实运行证据，不能把它当实测峰。改变目标函数时应重新解释选择，而不是只报最优数字。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采用190 nm表示优先总净导模功率，单模纯度目标可能给出另一选择。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第14章 Stage230至280的几何优化是怎样决策的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[S17] D:/Codex/Kai/STAGE265_266_HEIGHT237NM_TOOTH190NM_INTERACTION_2026-10-14.md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第42页｜顶部偏移的总功率与单模权衡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总净导模从−240到−300 nm依次6.299981、6.353260、6.400463、6.436615、6.463939、6.477015、6.473807%。mode1依次4.206953、4.234500、4.257262、4.272075、4.280641、4.279420、4.267286%。该容差结论不能直接套给1.40 µm版本。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旧Wz=0.75 µm条件下，shift±10 nm总净导模最差下降约0.202%。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图表原始数据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"type": "scatter",</a:t>
            </a:r>
          </a:p>
          <a:p xmlns:a="http://schemas.openxmlformats.org/drawingml/2006/main">
            <a:r>
              <a:t>  "x": [</a:t>
            </a:r>
          </a:p>
          <a:p xmlns:a="http://schemas.openxmlformats.org/drawingml/2006/main">
            <a:r>
              <a:t>    -300,</a:t>
            </a:r>
          </a:p>
          <a:p xmlns:a="http://schemas.openxmlformats.org/drawingml/2006/main">
            <a:r>
              <a:t>    -290,</a:t>
            </a:r>
          </a:p>
          <a:p xmlns:a="http://schemas.openxmlformats.org/drawingml/2006/main">
            <a:r>
              <a:t>    -280,</a:t>
            </a:r>
          </a:p>
          <a:p xmlns:a="http://schemas.openxmlformats.org/drawingml/2006/main">
            <a:r>
              <a:t>    -270,</a:t>
            </a:r>
          </a:p>
          <a:p xmlns:a="http://schemas.openxmlformats.org/drawingml/2006/main">
            <a:r>
              <a:t>    -260,</a:t>
            </a:r>
          </a:p>
          <a:p xmlns:a="http://schemas.openxmlformats.org/drawingml/2006/main">
            <a:r>
              <a:t>    -250,</a:t>
            </a:r>
          </a:p>
          <a:p xmlns:a="http://schemas.openxmlformats.org/drawingml/2006/main">
            <a:r>
              <a:t>    -240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"xtitle": "顶部偏移 / nm",</a:t>
            </a:r>
          </a:p>
          <a:p xmlns:a="http://schemas.openxmlformats.org/drawingml/2006/main">
            <a:r>
              <a:t>  "ytitle": "按入射功率归一化 / %",</a:t>
            </a:r>
          </a:p>
          <a:p xmlns:a="http://schemas.openxmlformats.org/drawingml/2006/main">
            <a:r>
              <a:t>  "xmin": -310,</a:t>
            </a:r>
          </a:p>
          <a:p xmlns:a="http://schemas.openxmlformats.org/drawingml/2006/main">
            <a:r>
              <a:t>  "xmax": -230,</a:t>
            </a:r>
          </a:p>
          <a:p xmlns:a="http://schemas.openxmlformats.org/drawingml/2006/main">
            <a:r>
              <a:t>  "xstep": 20,</a:t>
            </a:r>
          </a:p>
          <a:p xmlns:a="http://schemas.openxmlformats.org/drawingml/2006/main">
            <a:r>
              <a:t>  "ymin": 3.8,</a:t>
            </a:r>
          </a:p>
          <a:p xmlns:a="http://schemas.openxmlformats.org/drawingml/2006/main">
            <a:r>
              <a:t>  "ymax": 6.8,</a:t>
            </a:r>
          </a:p>
          <a:p xmlns:a="http://schemas.openxmlformats.org/drawingml/2006/main">
            <a:r>
              <a:t>  "ystep": 0.5,</a:t>
            </a:r>
          </a:p>
          <a:p xmlns:a="http://schemas.openxmlformats.org/drawingml/2006/main">
            <a:r>
              <a:t>  "format": "0.0",</a:t>
            </a:r>
          </a:p>
          <a:p xmlns:a="http://schemas.openxmlformats.org/drawingml/2006/main">
            <a:r>
              <a:t>  "series":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"总净导模",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6.473807,</a:t>
            </a:r>
          </a:p>
          <a:p xmlns:a="http://schemas.openxmlformats.org/drawingml/2006/main">
            <a:r>
              <a:t>        6.477015,</a:t>
            </a:r>
          </a:p>
          <a:p xmlns:a="http://schemas.openxmlformats.org/drawingml/2006/main">
            <a:r>
              <a:t>        6.463939,</a:t>
            </a:r>
          </a:p>
          <a:p xmlns:a="http://schemas.openxmlformats.org/drawingml/2006/main">
            <a:r>
              <a:t>        6.436615,</a:t>
            </a:r>
          </a:p>
          <a:p xmlns:a="http://schemas.openxmlformats.org/drawingml/2006/main">
            <a:r>
              <a:t>        6.400463,</a:t>
            </a:r>
          </a:p>
          <a:p xmlns:a="http://schemas.openxmlformats.org/drawingml/2006/main">
            <a:r>
              <a:t>        6.35326,</a:t>
            </a:r>
          </a:p>
          <a:p xmlns:a="http://schemas.openxmlformats.org/drawingml/2006/main">
            <a:r>
              <a:t>        6.299981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"#167E83"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"mode1 前向",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4.267286,</a:t>
            </a:r>
          </a:p>
          <a:p xmlns:a="http://schemas.openxmlformats.org/drawingml/2006/main">
            <a:r>
              <a:t>        4.27942,</a:t>
            </a:r>
          </a:p>
          <a:p xmlns:a="http://schemas.openxmlformats.org/drawingml/2006/main">
            <a:r>
              <a:t>        4.280641,</a:t>
            </a:r>
          </a:p>
          <a:p xmlns:a="http://schemas.openxmlformats.org/drawingml/2006/main">
            <a:r>
              <a:t>        4.272075,</a:t>
            </a:r>
          </a:p>
          <a:p xmlns:a="http://schemas.openxmlformats.org/drawingml/2006/main">
            <a:r>
              <a:t>        4.257262,</a:t>
            </a:r>
          </a:p>
          <a:p xmlns:a="http://schemas.openxmlformats.org/drawingml/2006/main">
            <a:r>
              <a:t>        4.2345,</a:t>
            </a:r>
          </a:p>
          <a:p xmlns:a="http://schemas.openxmlformats.org/drawingml/2006/main">
            <a:r>
              <a:t>        4.206953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"#B97940"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"labels": false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图上折线仅连接已计算点；未表示连续求解或额外拟合仿真。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第14章 Stage230至280的几何优化是怎样决策的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[S18] D:/Codex/Kai/STAGE267_280_TOPSHIFT_OPTIMIZATION_AND_TOLERANCE_SUMMARY_2026-10-15.md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第43页｜横向宽度改变了三光斑响应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三组数据均从保存的结果JSON读取。光栅宽度Wz是器件尺寸，光束半径wz是输入条件。不能混成一个宽度参数，也不能为了更高效率任意改变光机规格。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固定638 nm、h237 nm、w190 nm、shift−290 nm，曲线连接已计算点。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图表原始数据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"type": "scatter",</a:t>
            </a:r>
          </a:p>
          <a:p xmlns:a="http://schemas.openxmlformats.org/drawingml/2006/main">
            <a:r>
              <a:t>  "x": [</a:t>
            </a:r>
          </a:p>
          <a:p xmlns:a="http://schemas.openxmlformats.org/drawingml/2006/main">
            <a:r>
              <a:t>    0.45,</a:t>
            </a:r>
          </a:p>
          <a:p xmlns:a="http://schemas.openxmlformats.org/drawingml/2006/main">
            <a:r>
              <a:t>    0.55,</a:t>
            </a:r>
          </a:p>
          <a:p xmlns:a="http://schemas.openxmlformats.org/drawingml/2006/main">
            <a:r>
              <a:t>    0.65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"xtitle": "输入光束半径 wz / µm",</a:t>
            </a:r>
          </a:p>
          <a:p xmlns:a="http://schemas.openxmlformats.org/drawingml/2006/main">
            <a:r>
              <a:t>  "ytitle": "总净导模指标 / %",</a:t>
            </a:r>
          </a:p>
          <a:p xmlns:a="http://schemas.openxmlformats.org/drawingml/2006/main">
            <a:r>
              <a:t>  "xmin": 0.4,</a:t>
            </a:r>
          </a:p>
          <a:p xmlns:a="http://schemas.openxmlformats.org/drawingml/2006/main">
            <a:r>
              <a:t>  "xmax": 0.7,</a:t>
            </a:r>
          </a:p>
          <a:p xmlns:a="http://schemas.openxmlformats.org/drawingml/2006/main">
            <a:r>
              <a:t>  "xstep": 0.05,</a:t>
            </a:r>
          </a:p>
          <a:p xmlns:a="http://schemas.openxmlformats.org/drawingml/2006/main">
            <a:r>
              <a:t>  "ymin": 6.2,</a:t>
            </a:r>
          </a:p>
          <a:p xmlns:a="http://schemas.openxmlformats.org/drawingml/2006/main">
            <a:r>
              <a:t>  "ymax": 8,</a:t>
            </a:r>
          </a:p>
          <a:p xmlns:a="http://schemas.openxmlformats.org/drawingml/2006/main">
            <a:r>
              <a:t>  "ystep": 0.3,</a:t>
            </a:r>
          </a:p>
          <a:p xmlns:a="http://schemas.openxmlformats.org/drawingml/2006/main">
            <a:r>
              <a:t>  "format": "0.0",</a:t>
            </a:r>
          </a:p>
          <a:p xmlns:a="http://schemas.openxmlformats.org/drawingml/2006/main">
            <a:r>
              <a:t>  "series":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"Wz 0.75 µm",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7.68437352293321,</a:t>
            </a:r>
          </a:p>
          <a:p xmlns:a="http://schemas.openxmlformats.org/drawingml/2006/main">
            <a:r>
              <a:t>        7.103324304340738,</a:t>
            </a:r>
          </a:p>
          <a:p xmlns:a="http://schemas.openxmlformats.org/drawingml/2006/main">
            <a:r>
              <a:t>        6.4770148869470985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"#9B8D7D"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"Wz 1.50 µm",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7.516980216103426,</a:t>
            </a:r>
          </a:p>
          <a:p xmlns:a="http://schemas.openxmlformats.org/drawingml/2006/main">
            <a:r>
              <a:t>        7.718561545020437,</a:t>
            </a:r>
          </a:p>
          <a:p xmlns:a="http://schemas.openxmlformats.org/drawingml/2006/main">
            <a:r>
              <a:t>        7.646533802113476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"#899BA2"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"Wz 1.40 µm",</a:t>
            </a:r>
          </a:p>
          <a:p xmlns:a="http://schemas.openxmlformats.org/drawingml/2006/main">
            <a:r>
              <a:t>      "y": [</a:t>
            </a:r>
          </a:p>
          <a:p xmlns:a="http://schemas.openxmlformats.org/drawingml/2006/main">
            <a:r>
              <a:t>        7.742006805590567,</a:t>
            </a:r>
          </a:p>
          <a:p xmlns:a="http://schemas.openxmlformats.org/drawingml/2006/main">
            <a:r>
              <a:t>        7.835998920760556,</a:t>
            </a:r>
          </a:p>
          <a:p xmlns:a="http://schemas.openxmlformats.org/drawingml/2006/main">
            <a:r>
              <a:t>        7.652342133006281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"color": "#167E83"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"labels": false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图上折线仅连接已计算点；未表示连续求解或额外拟合仿真。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第15章 Stage281至298的最后比较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此前几何主要在wz=0.65 µm下优化。为判断照明变化是否让设计失效，固定几何，比较0.45、0.55、0.65 µm三种光斑；再考察横向光栅宽度0.75、1.50、1.40 µm。这里改变的是几何对既定照明范围的适应性，而不是把光机规格当作任意可优化参数。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光栅Wz | wz 0.45 µm | wz 0.55 µm | wz 0.65 µm | 最大端点相对偏差 |</a:t>
            </a:r>
          </a:p>
          <a:p xmlns:a="http://schemas.openxmlformats.org/drawingml/2006/main">
            <a:r>
              <a:t>|---:|---:|---:|---:|---:|</a:t>
            </a:r>
          </a:p>
          <a:p xmlns:a="http://schemas.openxmlformats.org/drawingml/2006/main">
            <a:r>
              <a:t>| 0.75 µm | 7.684374% | 7.103324% | 6.477015% | 8.8171% |</a:t>
            </a:r>
          </a:p>
          <a:p xmlns:a="http://schemas.openxmlformats.org/drawingml/2006/main">
            <a:r>
              <a:t>| 1.50 µm | 7.516980% | 7.718562% | 7.646534% | 2.6116% |</a:t>
            </a:r>
          </a:p>
          <a:p xmlns:a="http://schemas.openxmlformats.org/drawingml/2006/main">
            <a:r>
              <a:t>| 1.40 µm | 7.742007% | 7.835999% | 7.652342% | 2.3438%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![三种横向宽度的三光斑结果](figures/illumination.png)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端点偏差定义为100×[η(端点)/η(0.55)−1]。1.40 µm两端分别为−1.1995%与−2.3438%，所以临时“两个端点均在±2%内”的条件未通过。其三点最高与最低相差0.183657个百分点，除以名义7.835999%后得到2.343757%。这次两种指标数值相等，是因为名义点刚好最高；两种定义一般不等价。[S19]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0.75 µm的三点相对跨度约16.9971%，1.40 µm约2.3438%，按这种定义跨度减少约86.21%。这是稳定性指标的改进，不是效率提升86%。名义净导模相对原0.75 µm提高约10.31%；最差端提高约18.15%。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学习上的工程选择：采用1.40 µm作为继续验证的暂定候选，保留0.75和1.50 µm作对照。±2%是教学与筛选用的临时要求，缺少真实产品规格时不能据此宣布产品合格或不合格。也没有必要为了把2.3438%压到2.0000%而立即重启无尽优化。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注意三个光斑的输入功率随保持的场幅和光束面积而改变。效率降低时，绝对导模功率仍可能增加。比较“省光”应看归一化效率；比较实际亮度应先统一真实输入功率与光机条件。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[S19] D:/Codex/Kai/stage283_284_final_geometry_wz0p45_three_point_results.json</a:t>
            </a:r>
          </a:p>
          <a:p xmlns:a="http://schemas.openxmlformats.org/drawingml/2006/main">
            <a:r>
              <a:t>D:/Codex/Kai/stage287_291_width1p5um_three_point_results.json</a:t>
            </a:r>
          </a:p>
          <a:p xmlns:a="http://schemas.openxmlformats.org/drawingml/2006/main">
            <a:r>
              <a:t>D:/Codex/Kai/stage292_293_width1p4um_wz0p55_nominal_results.json</a:t>
            </a:r>
          </a:p>
          <a:p xmlns:a="http://schemas.openxmlformats.org/drawingml/2006/main">
            <a:r>
              <a:t>D:/Codex/Kai/stage292_298_width1p4um_three_point_results.json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第44页｜三点照明结果与临时门槛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端点相对变化=100×[η端点/η0.55−1]。1.40 µm两端为−1.199491%与−2.343757%。三点最高最低相差0.1836568个百分点，除以名义值后为2.343757%。两种指标此次数值相同，是因为名义点最高，一般并不相等。相对0.75 µm，名义值提高约10.3145%，最差端提高约18.1461%。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1.40 µm候选仍未满足临时“两端均在±2%内”的条件。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第15章 Stage281至298的最后比较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[S19] D:/Codex/Kai/stage283_284_final_geometry_wz0p45_three_point_results.json</a:t>
            </a:r>
          </a:p>
          <a:p xmlns:a="http://schemas.openxmlformats.org/drawingml/2006/main">
            <a:r>
              <a:t>D:/Codex/Kai/stage287_291_width1p5um_three_point_results.json</a:t>
            </a:r>
          </a:p>
          <a:p xmlns:a="http://schemas.openxmlformats.org/drawingml/2006/main">
            <a:r>
              <a:t>D:/Codex/Kai/stage292_293_width1p4um_wz0p55_nominal_results.json</a:t>
            </a:r>
          </a:p>
          <a:p xmlns:a="http://schemas.openxmlformats.org/drawingml/2006/main">
            <a:r>
              <a:t>D:/Codex/Kai/stage292_298_width1p4um_three_point_results.json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第45页｜效率下降时绝对功率仍可能增加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这些小功率来自模拟场幅的归一化，不表示真实投影光机仅有fW输出。名义7.835999%若在同一线性模型中对应1 mW输入，目标净导模功率约78.36 µW，属于比例换算而非产品实测。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仿真幅度可以线性缩放。实际亮度比较还需统一真实光机输入条件。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第15章 Stage281至298的最后比较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[S19] D:/Codex/Kai/stage283_284_final_geometry_wz0p45_three_point_results.json</a:t>
            </a:r>
          </a:p>
          <a:p xmlns:a="http://schemas.openxmlformats.org/drawingml/2006/main">
            <a:r>
              <a:t>D:/Codex/Kai/stage287_291_width1p5um_three_point_results.json</a:t>
            </a:r>
          </a:p>
          <a:p xmlns:a="http://schemas.openxmlformats.org/drawingml/2006/main">
            <a:r>
              <a:t>D:/Codex/Kai/stage292_293_width1p4um_wz0p55_nominal_results.json</a:t>
            </a:r>
          </a:p>
          <a:p xmlns:a="http://schemas.openxmlformats.org/drawingml/2006/main">
            <a:r>
              <a:t>D:/Codex/Kai/stage292_298_width1p4um_three_point_results.json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第46页｜现有检查已经支持的结论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部分参考功率字段复用了已知输入值，比例为1不一定是两次独立测量的相同结果。小残差和0至1内的效率只是必要检查，不能替代所有物理验证。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all_validation_gates_pass只涵盖脚本列出的检查范围。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第16章 当前结果已经证明了什么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Stage292–298结果JSON中的 `all_validation_gates_pass=true`，证明的是该脚本列出的检查通过，包括网格对齐、参考源一致、相干重构、投影线性、模式数设置和残差阈值。它不能扩大解释为所有数值、物理、制造与系统验证已经通过。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检查项 | 当前证据 | 本手册的判断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三点结果完整性 | 三组模型、后处理数据与汇总已保存 | 已有结果 |</a:t>
            </a:r>
          </a:p>
          <a:p xmlns:a="http://schemas.openxmlformats.org/drawingml/2006/main">
            <a:r>
              <a:t>| 数据对齐与复场重构 | 脚本检查通过 | 测量链内部一致性已有证据 |</a:t>
            </a:r>
          </a:p>
          <a:p xmlns:a="http://schemas.openxmlformats.org/drawingml/2006/main">
            <a:r>
              <a:t>| 模态投影线性 | a/b误差约机器精度 | 已有代数一致性证据 |</a:t>
            </a:r>
          </a:p>
          <a:p xmlns:a="http://schemas.openxmlformats.org/drawingml/2006/main">
            <a:r>
              <a:t>| 模态数 | 当前使用32模，脚本筛出28模 | 数量确定，物理导模分类仍需结合截面 |</a:t>
            </a:r>
          </a:p>
          <a:p xmlns:a="http://schemas.openxmlformats.org/drawingml/2006/main">
            <a:r>
              <a:t>| 当前候选全部网格与PML收敛 | 主要沿用早期设置 | 不应宣称本候选全部重新验证过 |</a:t>
            </a:r>
          </a:p>
          <a:p xmlns:a="http://schemas.openxmlformats.org/drawingml/2006/main">
            <a:r>
              <a:t>| 源场实际传播与频率更新 | 有构造脚本，当前638 nm | 波长扫描前必须完成源检查 |</a:t>
            </a:r>
          </a:p>
          <a:p xmlns:a="http://schemas.openxmlformats.org/drawingml/2006/main">
            <a:r>
              <a:t>| 三点照明±2% | 最大偏差2.3438% | 临时条件未通过 |</a:t>
            </a:r>
          </a:p>
          <a:p xmlns:a="http://schemas.openxmlformats.org/drawingml/2006/main">
            <a:r>
              <a:t>| 产品验收 | 光机、材料、公差目标待定 | 尚未具备产品结论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三个特别需要限定的地方。第一，当前脚本以 Re(n_eff)&gt;1筛选“导模”；如果外侧介质、基底或PML截面不符合这个判据的物理假设，需结合场束缚、损耗与边界进一步分类。第二，残差小与0≤效率≤1只是必要检查，不是全部正确性的证明。第三，实际脚本中部分参考源功率是复用已知同一输入值；“比例为1”有时是输入一致的记录，不能当作两次独立测量相同的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这些限制不要求立刻重跑几百个Stage。先做一次有针对性的审计：查当前源与材料截面、复核一个名义结果、识别真正影响结论的检查，再决定是否需要补一个仿真。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[S19] D:/Codex/Kai/stage283_284_final_geometry_wz0p45_three_point_results.json</a:t>
            </a:r>
          </a:p>
          <a:p xmlns:a="http://schemas.openxmlformats.org/drawingml/2006/main">
            <a:r>
              <a:t>D:/Codex/Kai/stage287_291_width1p5um_three_point_results.json</a:t>
            </a:r>
          </a:p>
          <a:p xmlns:a="http://schemas.openxmlformats.org/drawingml/2006/main">
            <a:r>
              <a:t>D:/Codex/Kai/stage292_293_width1p4um_wz0p55_nominal_results.json</a:t>
            </a:r>
          </a:p>
          <a:p xmlns:a="http://schemas.openxmlformats.org/drawingml/2006/main">
            <a:r>
              <a:t>D:/Codex/Kai/stage292_298_width1p4um_three_point_results.json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[S20] D:/Codex/Kai/stage292_293_finalize.py</a:t>
            </a:r>
          </a:p>
          <a:p xmlns:a="http://schemas.openxmlformats.org/drawingml/2006/main">
            <a:r>
              <a:t>D:/Codex/Kai/stage292_298_finalize.py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第47页｜当前候选仍需要的验证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这些未完成项不要求把所有Stage重跑。应先检查模型与数据，再选择能改变下一步决策的最小验证。当前参数可作暂定候选，不宜称为最终产品设计。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先审计影响结论的关键假设，再决定补做哪一个实验。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第16章 当前结果已经证明了什么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[O3] https://optics.ansys.com/hc/en-us/articles/360034383014-Import-source-Simulation-object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[O7] https://optics.ansys.com/hc/en-us/articles/360034915833-Convergence-testing-process-for-FDTD-simulations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[S20] D:/Codex/Kai/stage292_293_finalize.py</a:t>
            </a:r>
          </a:p>
          <a:p xmlns:a="http://schemas.openxmlformats.org/drawingml/2006/main">
            <a:r>
              <a:t>D:/Codex/Kai/stage292_298_finalize.py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第48页｜常见错误：对象与数据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错误可分对象不存在、属性不存在、结果不存在、维度不匹配、物理定义不一致。最近的导入源属性报错来自错误套用标准源属性，应由指导者先核对脚本与文档。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先把错误归类，再修改最小部分。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第17章 反复出现的错误和正确处理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| 现象或旧说法 | 原因或限制 | 正确处理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导入源没有angle theta | 把标准源属性套到Imported Source | 查真实对象类型，方向从场数据与生成参数核验 |</a:t>
            </a:r>
          </a:p>
          <a:p xmlns:a="http://schemas.openxmlformats.org/drawingml/2006/main">
            <a:r>
              <a:t>| 改了角度结果不变 | 可能修改禁用源或仍读旧结果 | 检查enabled、保存状态、是否重新run |</a:t>
            </a:r>
          </a:p>
          <a:p xmlns:a="http://schemas.openxmlformats.org/drawingml/2006/main">
            <a:r>
              <a:t>| 638 nm称作绿色 | 表述错误 | 638 nm属于当前红光模型，早期532 nm为绿光 |</a:t>
            </a:r>
          </a:p>
          <a:p xmlns:a="http://schemas.openxmlformats.org/drawingml/2006/main">
            <a:r>
              <a:t>| mode1必是TM或+1 | 混淆模式编号、偏振与衍射级次 | 查neff、场剖面、TE fraction及传播方向 |</a:t>
            </a:r>
          </a:p>
          <a:p xmlns:a="http://schemas.openxmlformats.org/drawingml/2006/main">
            <a:r>
              <a:t>| orders就是实际效率 | 忽略RCWA归一化区别 | 用grating_power并核对入射功率定义 |</a:t>
            </a:r>
          </a:p>
          <a:p xmlns:a="http://schemas.openxmlformats.org/drawingml/2006/main">
            <a:r>
              <a:t>| 矩阵末尾3是三频点 | 混淆矢量分量轴 | 对照数据集x/y/z/f与属性维度 |</a:t>
            </a:r>
          </a:p>
          <a:p xmlns:a="http://schemas.openxmlformats.org/drawingml/2006/main">
            <a:r>
              <a:t>| sum多个截面当总效率 | 可能重复计数同一能流 | 定义不重叠输出面或闭合边界 |</a:t>
            </a:r>
          </a:p>
          <a:p xmlns:a="http://schemas.openxmlformats.org/drawingml/2006/main">
            <a:r>
              <a:t>| 对T取abs解决能量异常 | 丢失方向信息 | 先统一法向，再分离入射与输出 |</a:t>
            </a:r>
          </a:p>
          <a:p xmlns:a="http://schemas.openxmlformats.org/drawingml/2006/main">
            <a:r>
              <a:t>| 总场功率减背景等于散射功率 | 漏掉相干交叉项 | 先减复场，再做Poynting积分 |</a:t>
            </a:r>
          </a:p>
          <a:p xmlns:a="http://schemas.openxmlformats.org/drawingml/2006/main">
            <a:r>
              <a:t>| 文件叫FINAL就已完成 | 文件名不是验收证据 | 同时核查结果对象、参数和计算状态 |</a:t>
            </a:r>
          </a:p>
          <a:p xmlns:a="http://schemas.openxmlformats.org/drawingml/2006/main">
            <a:r>
              <a:t>| switchtolayout只是切个界面 | 它会清掉当前分析结果 | 先保留结果工程，另存设置副本 |</a:t>
            </a:r>
          </a:p>
          <a:p xmlns:a="http://schemas.openxmlformats.org/drawingml/2006/main">
            <a:r>
              <a:t>| run("某脚本") | run参数不是执行脚本路径 | 执行LSF用feval，先检查脚本内容 |</a:t>
            </a:r>
          </a:p>
          <a:p xmlns:a="http://schemas.openxmlformats.org/drawingml/2006/main">
            <a:r>
              <a:t>| 把源标签638改为628即正确扫描 | 导入相位和E/H未必随频率更新 | 每个频率生成匹配场或验证多频导入 |</a:t>
            </a:r>
          </a:p>
          <a:p xmlns:a="http://schemas.openxmlformats.org/drawingml/2006/main">
            <a:r>
              <a:t>| 增加高度只改多边形h | 对象中心没同步可能改变刻蚀深度 | 固定齿底并审计全局顶点 |</a:t>
            </a:r>
          </a:p>
          <a:p xmlns:a="http://schemas.openxmlformats.org/drawingml/2006/main">
            <a:r>
              <a:t>| 算出更高值就继续 | 没有目标、误差与停止规则 | 先说明本轮要验证什么及何时停止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近的属性报错来自我给错对象属性，应该由我先查生成脚本和官方对象定义。对你而言，值得学习的排错方法是把错误分成对象不存在、属性不存在、结果不存在、维度不匹配、物理定义不一致五类。每次先确定属于哪类，再改最小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[O3] https://optics.ansys.com/hc/en-us/articles/360034383014-Import-source-Simulation-object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[O4] https://optics.ansys.com/hc/en-us/articles/360034409554-Introduction-to-Lumerical-datasets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第49页｜常见错误：物理解释与保存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保存文件并不等于验证成功。带有COMPLETE、ADOPTED等名字的文件仍可能是设置副本或只含部分结果。运行和后处理完成也要分别确认。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每次记录都应包含模型版本、物理条件和指标定义。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第17章 反复出现的错误和正确处理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第50页｜一张实验记录的七个问题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记录还应保留日期、参数单位、原始读数、源文件、限制和下一动作。扫描前先限制点数，例如先三点，确有必要才增加两个点。这样可以防止连续追逐微小提升。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程序负责执行已经定义的实验，预测和解释由你完成。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第18章 每轮实验采用相同的推理顺序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第51页｜四种不同的停止标准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当候选改善与网格差、源差或模态分解差同量级时，继续微调缺少解释意义。此时应报告不确定度，转入决定下一阶段所需的验证。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历史0.02个百分点、1%和±2%都有局部背景，阈值需要随用途解释。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第18章 每轮实验采用相同的推理顺序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[O7] https://optics.ansys.com/hc/en-us/articles/360034915833-Convergence-testing-process-for-FDTD-simulations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第52页｜接下来六节课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每课只检查当前相关的两三道自测题。能说出错误选项为什么错，比背出优化后的数字更能证明理解。暂时答不出时回看对应页面，无需增加仿真轮次。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约6–9小时是理解练习建议，不含求解等待，也不是整机项目工期。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第19章 后续如何进行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近期按六节课重建理解，每节建议60–90分钟。以下是主动学习时间建议，不含排队与电磁求解等待，也不是完成整机设计的承诺。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课次 | 核心任务 | 使用已有资料 | 验收产物 |</a:t>
            </a:r>
          </a:p>
          <a:p xmlns:a="http://schemas.openxmlformats.org/drawingml/2006/main">
            <a:r>
              <a:t>|---:|---|---|---|</a:t>
            </a:r>
          </a:p>
          <a:p xmlns:a="http://schemas.openxmlformats.org/drawingml/2006/main">
            <a:r>
              <a:t>| 1 | 画当前模型和光路，认清x/y/z | 第02、04章与基准工程 | 一张标注图 |</a:t>
            </a:r>
          </a:p>
          <a:p xmlns:a="http://schemas.openxmlformats.org/drawingml/2006/main">
            <a:r>
              <a:t>| 2 | 亲手解释7.836%、6.119%、78.084% | 第05、15章与结果JSON | 一张功率定义表 |</a:t>
            </a:r>
          </a:p>
          <a:p xmlns:a="http://schemas.openxmlformats.org/drawingml/2006/main">
            <a:r>
              <a:t>| 3 | 手算TIR、级次及相位匹配 | 第03章 | 两道完整数值题 |</a:t>
            </a:r>
          </a:p>
          <a:p xmlns:a="http://schemas.openxmlformats.org/drawingml/2006/main">
            <a:r>
              <a:t>| 4 | 只读检查导入源和对应数据 | 第07、17、20章 | 四项属性与源类型记录 |</a:t>
            </a:r>
          </a:p>
          <a:p xmlns:a="http://schemas.openxmlformats.org/drawingml/2006/main">
            <a:r>
              <a:t>| 5 | 回放一次高度三点实验 | 第14章与原始报告 | 预测、比较、停止理由 |</a:t>
            </a:r>
          </a:p>
          <a:p xmlns:a="http://schemas.openxmlformats.org/drawingml/2006/main">
            <a:r>
              <a:t>| 6 | 写一份工程波长验证计划 | 第16、18章 | 3点实验卡，不要求立即run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上述约6–9小时若能独立完成，再进入当前候选的工程验证。先处理导入源：638 nm复现、场方向与功率检查；若要改变波长，应让源相位、E/H、参考模型、材料取值和模式基底一同对应新频率。先用628/638/648 nm三个教学点，必要时增加633与643 nm；实际产品需换成真实光谱范围。原计划的五点不会因为写在表里就自动完成。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得到波长响应后，区分“固定入射角下的带宽”和“每个波长重新寻峰后的上包络”。前者更直接反映固定装调条件；后者解释色散耦合。不能逐波长重新优化角度后，把结果称作固定系统的宽带性能。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依序检查小范围角度、光斑位置、所需偏振与制造偏差。尽量复用满足相同条件的参考，不满足时重新生成。只有单变量趋势清楚，才做少量组合角点；不先开大规模蒙特卡洛。材料色散、吸收和制造参数应明确为实物数据或教学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再往后进入系统课程：入耦后的k空间与TIR通道，出耦光栅的方向选择，一维到二维扩瞳，眼盒与均匀性，RGB共视场，鬼影与彩虹路径，成像质量。先建立简化系统与功率预算，再决定局部光栅还缺什么性能。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没有真实光机规格也可以继续学习。应把638 nm、当前光束与角度写成明确的教学基准，把产品光谱、FOV、出瞳、偏振和制造能力保留待定。这样能完成一个可解释的仿真案例，同时诚实保留产品适用边界。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第53页｜下一课的界面检查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基准路径D:/FDTD_File/ar_incoupler_ENGINEERING_BASELINE_638nm.fsp。该文件是Layout设置副本，不应假定包含完整结果。要看总场和后处理，应分别查Stage292b和Stage293b保存工程。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本课无需长仿真，验收是你能指着模型讲清光路和测量。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第20章 下一课从这里开始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下一课唯一目标：你能指着模型说明“光从哪里来、在哪里被测量、7.836%的分母是什么”。这节课无需长仿真。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先打开工程基准 `ar_incoupler_ENGINEERING_BASELINE_638nm.fsp`，确认对象树含 `elliptical_gaussian_3d`。若已有未保存工程，不要直接load覆盖它。确认没有正在求解的任务后，在Script Prompt执行同目录提供的只读脚本，或手动输入：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```lsf</a:t>
            </a:r>
          </a:p>
          <a:p xmlns:a="http://schemas.openxmlformats.org/drawingml/2006/main">
            <a:r>
              <a:t>?"custom_source_enabled = "+num2str(getnamed("elliptical_gaussian_3d","enabled"));</a:t>
            </a:r>
          </a:p>
          <a:p xmlns:a="http://schemas.openxmlformats.org/drawingml/2006/main">
            <a:r>
              <a:t>?"standard_source_enabled = "+num2str(getnamed("source","enabled"));</a:t>
            </a:r>
          </a:p>
          <a:p xmlns:a="http://schemas.openxmlformats.org/drawingml/2006/main">
            <a:r>
              <a:t>?"wavelength_start_nm = "+num2str(getnamed("elliptical_gaussian_3d","wavelength start")*1e9);</a:t>
            </a:r>
          </a:p>
          <a:p xmlns:a="http://schemas.openxmlformats.org/drawingml/2006/main">
            <a:r>
              <a:t>?"wavelength_stop_nm = "+num2str(getnamed("elliptical_gaussian_3d","wavelength stop")*1e9);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按已保存来源，预期是1、0、638、638。这是待你在当前界面确认的预期，不是本次已经远程执行得到的输出。若对象缺失，先核对打开的文件和对象树。此脚本不设置参数、不保存文件、不启动求解。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随后打开结果 `stage292_293_width1p4um_wz0p55_nominal_results.json`，找到 `guided_scat_net`、`mode1_scat_forward` 和 `mode1_fraction_guided_forward`，分别乘100，写下三个百分数。数据已在学习导航中放成可读卡片，不必肉眼估图。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用自己的话写四句：这是红光还是绿光；当前启用哪个源；总净导模与mode1有何区别；为什么还不能称作AR眼镜总效率。能答出这四句，再做第2课的功率账本。暂时答不出就回看第02与05章，不需要再增加Stage编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第54页｜只读源检查代码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本页给出只读示例，未在本次制作课件时执行。组作用域为根model，若对象在组内需使用对应路径。建议先一行一行输入，确认输出含义。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若对象不存在，先核对文件和对象树。导入源方向从场数据和生成参数核查。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第20章 下一课从这里开始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第55页｜下一项工程实验：三点波长响应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波长实验开始前，先完成638 nm名义点复现以及源传播验证。固定角度响应与每个波长重新调角寻峰必须分别保存。三点是教学检查，并非完整产品光谱验收。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只修改导入源的波长标签，不能保证已经形成正确的新频率光束。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第19章 后续如何进行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[O3] https://optics.ansys.com/hc/en-us/articles/360034383014-Import-source-Simulation-object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第56页｜工程验证的后续顺序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顺序可以根据审计发现调整。收敛不是只放在最后的一次检查，而是在关键模型变更后重新确认。材料损耗、色散和制造能力需要实物来源或明确教学假设。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所需误差和规格应先定义，避免没有边界的大规模扫描。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第19章 后续如何进行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[O7] https://optics.ansys.com/hc/en-us/articles/360034915833-Convergence-testing-process-for-FDTD-simulations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第57页｜后续 AR 光学系统课程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没有真实光机规格也能学习，但应把波长、光斑和角度写成教学基准，把产品FOV、眼盒、出瞳距离和制造能力保留为待定。局部接受角不能直接替代系统FOV。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先建立系统问题，再决定局部光栅需要补充什么性能。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第19章 后续如何进行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第58页｜自测：参数与数字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答案1约385.82 nm。答案2约57.79%。答案3约0.7327个百分点，相对约10.31%。答案4总净导模和mode1效率都按入射功率归一化，模式占比的分母是前向导模总功率。mode1=6.118999%，前向总和=7.836445%，比值约78.0839%。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答案和解释见备注。先计算，再核对单位和分母。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第21章 自测题与参考答案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先作答再看答案。可以口述，也可以把答案写在“我的实验记录.md”中。一次只检查本课相关的两三题。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532 nm、n=1.8、正入射、目标内部50°，周期约多少？</a:t>
            </a:r>
          </a:p>
          <a:p xmlns:a="http://schemas.openxmlformats.org/drawingml/2006/main">
            <a:r>
              <a:t>2. 当前190 nm齿宽、328.75 nm周期，占空比是多少？</a:t>
            </a:r>
          </a:p>
          <a:p xmlns:a="http://schemas.openxmlformats.org/drawingml/2006/main">
            <a:r>
              <a:t>3. AR入耦器必须用+1级吗？mode1等于+1级吗？</a:t>
            </a:r>
          </a:p>
          <a:p xmlns:a="http://schemas.openxmlformats.org/drawingml/2006/main">
            <a:r>
              <a:t>4. 7.836%入耦指标与78.084%模式占比能同时成立吗？</a:t>
            </a:r>
          </a:p>
          <a:p xmlns:a="http://schemas.openxmlformats.org/drawingml/2006/main">
            <a:r>
              <a:t>5. 效率从7.1033%变7.8360%，增加多少个百分点、相对增加多少？</a:t>
            </a:r>
          </a:p>
          <a:p xmlns:a="http://schemas.openxmlformats.org/drawingml/2006/main">
            <a:r>
              <a:t>6. 改高度时保持top shift不变，侧壁角保持不变吗？</a:t>
            </a:r>
          </a:p>
          <a:p xmlns:a="http://schemas.openxmlformats.org/drawingml/2006/main">
            <a:r>
              <a:t>7. 310→300→290 nm越来越好，能宣布290 nm最优吗？</a:t>
            </a:r>
          </a:p>
          <a:p xmlns:a="http://schemas.openxmlformats.org/drawingml/2006/main">
            <a:r>
              <a:t>8. 三个报告面读数差很大，首先继续优化几何还是检查测量？</a:t>
            </a:r>
          </a:p>
          <a:p xmlns:a="http://schemas.openxmlformats.org/drawingml/2006/main">
            <a:r>
              <a:t>9. 取总功率减参考功率，是否等于散射场功率？</a:t>
            </a:r>
          </a:p>
          <a:p xmlns:a="http://schemas.openxmlformats.org/drawingml/2006/main">
            <a:r>
              <a:t>10. 数据形状322×1×1×1×3，如果是P矢量数据，最后3是什么？</a:t>
            </a:r>
          </a:p>
          <a:p xmlns:a="http://schemas.openxmlformats.org/drawingml/2006/main">
            <a:r>
              <a:t>11. `feval`之后是否一定跑了FDTD？</a:t>
            </a:r>
          </a:p>
          <a:p xmlns:a="http://schemas.openxmlformats.org/drawingml/2006/main">
            <a:r>
              <a:t>12. 改导入源的波长标签后，为什么要检查导入场本身？</a:t>
            </a:r>
          </a:p>
          <a:p xmlns:a="http://schemas.openxmlformats.org/drawingml/2006/main">
            <a:r>
              <a:t>13. 1.40 µm候选“检查全部通过”与“2%条件未过”矛盾吗？</a:t>
            </a:r>
          </a:p>
          <a:p xmlns:a="http://schemas.openxmlformats.org/drawingml/2006/main">
            <a:r>
              <a:t>14. 二维角宽5.4133°能当眼镜FOV吗？能直接用于当前三维结构吗？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参考答案：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约385.82 nm；还应检查所需角度满足该界面TIR。</a:t>
            </a:r>
          </a:p>
          <a:p xmlns:a="http://schemas.openxmlformats.org/drawingml/2006/main">
            <a:r>
              <a:t>2. 约57.79%；只在这个周期和齿宽定义下成立。</a:t>
            </a:r>
          </a:p>
          <a:p xmlns:a="http://schemas.openxmlformats.org/drawingml/2006/main">
            <a:r>
              <a:t>3. 不必须。级次正负依赖坐标与目标方向；mode1是截面本征模式编号。</a:t>
            </a:r>
          </a:p>
          <a:p xmlns:a="http://schemas.openxmlformats.org/drawingml/2006/main">
            <a:r>
              <a:t>4. 可以。前者分母为输入功率，后者分母为前向导模总功率。</a:t>
            </a:r>
          </a:p>
          <a:p xmlns:a="http://schemas.openxmlformats.org/drawingml/2006/main">
            <a:r>
              <a:t>5. 约0.7327个百分点，相对约10.31%。</a:t>
            </a:r>
          </a:p>
          <a:p xmlns:a="http://schemas.openxmlformats.org/drawingml/2006/main">
            <a:r>
              <a:t>6. 不保持。固定横移、改变高度会改变斜率，必须说明扫描的约束。</a:t>
            </a:r>
          </a:p>
          <a:p xmlns:a="http://schemas.openxmlformats.org/drawingml/2006/main">
            <a:r>
              <a:t>7. 不能，尚未夹住局部峰值；下一点应依据有限步数规则选择。</a:t>
            </a:r>
          </a:p>
          <a:p xmlns:a="http://schemas.openxmlformats.org/drawingml/2006/main">
            <a:r>
              <a:t>8. 先检查模式、截面、背景、归一化、边界及物理传播，旧优化值暂不作为定论。</a:t>
            </a:r>
          </a:p>
          <a:p xmlns:a="http://schemas.openxmlformats.org/drawingml/2006/main">
            <a:r>
              <a:t>9. 一般不等于，存在相干交叉项；应先减复场。</a:t>
            </a:r>
          </a:p>
          <a:p xmlns:a="http://schemas.openxmlformats.org/drawingml/2006/main">
            <a:r>
              <a:t>10. 三个矢量分量；具体仍以数据集元数据为准。</a:t>
            </a:r>
          </a:p>
          <a:p xmlns:a="http://schemas.openxmlformats.org/drawingml/2006/main">
            <a:r>
              <a:t>11. 不一定，取决于脚本内容。</a:t>
            </a:r>
          </a:p>
          <a:p xmlns:a="http://schemas.openxmlformats.org/drawingml/2006/main">
            <a:r>
              <a:t>12. 空间相位、场形与E/H依赖频率，标签与真实注入场需要一致。</a:t>
            </a:r>
          </a:p>
          <a:p xmlns:a="http://schemas.openxmlformats.org/drawingml/2006/main">
            <a:r>
              <a:t>13. 不矛盾，前者是已列出的数值一致性检查，后者是独立的性能条件。</a:t>
            </a:r>
          </a:p>
          <a:p xmlns:a="http://schemas.openxmlformats.org/drawingml/2006/main">
            <a:r>
              <a:t>14. 不能。局部响应角宽、系统FOV和不同几何的角度响应是不同问题。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掌握判据：能解释错误选项为什么错，并在实际文件中指出一个对应字段或对象。背出百分数不作为验收。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第59页｜自测：物理与实验判断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答案1不能，峰尚未夹住。答案2先检查测量方式、截面、模式、源、归一化和边界。答案3功率包含复场相干交叉项，需先减复场。答案4脚本检查范围与性能门槛不同。其他自测：mode1与+1不同，固定shift改h会改变倾角，feval是否run由内容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掌握的标准是能解释理由，并指出对应对象、字段或实验。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第21章 自测题与参考答案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第60页｜保存文件与恢复顺序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设置基准：D:/FDTD_File/ar_incoupler_ENGINEERING_BASELINE_638nm.fsp。已算名义模型：D:/FDTD_File/ar_incoupler_FDTD_stage292b_FINAL_GEOMETRY_WIDTH1P4UM_wx6um_wz0p55um_zdomain2p8um_PATTERNED_COMPLETE_638nm.fsp。后处理Stage293b工程的实际文件名见学习导航搜索。档案入口：D:/Codex/Kai/output/AR波导学习总档案_2026-10-22/学习导航.html。已有索引收录2928项相关本地文件，存在不代表通过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优先入口与完整绝对路径放在本页备注和已有学习导航中。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第22章 文件目录与可追溯资料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扩展阅读：本章完整记录</a:t>
            </a:r>
          </a:p>
          <a:p xmlns:a="http://schemas.openxmlformats.org/drawingml/2006/main">
            <a:r>
              <a:t>本资料包包含可编辑Word手册、同内容Markdown、本地浏览器学习导航、阶段文件索引、只读源检查脚本和实验记录模板。导航支持章节跳转、搜索Stage/文件及切换历史原文；不需要联网。原工程仍留在D:/FDTD_File，未被复制、覆盖或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三个优先入口是：设置基准 `ar_incoupler_ENGINEERING_BASELINE_638nm.fsp`；名义已算模型 `ar_incoupler_FDTD_stage292b_FINAL_GEOMETRY_WIDTH1P4UM_wx6um_wz0p55um_zdomain2p8um_PATTERNED_COMPLETE_638nm.fsp`；含固定模式后处理的Stage293b工程。后两者分别用于核查总场结果和模式分解，文件路径见导航。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索引覆盖本次发现的Stage1至298相关文件。某阶段有脚本或FSP只证明文件存在；索引不会把它自动标记为计算成功。原阶段报告属于当时状态，遇到新的修正应以本手册说明及对应原始数据为准。没有一份文件可以替代核对模型内部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本地主要来源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[S1] learning_records/RCWA_learning_checkpoint_2026-08-25.md，绿光双偏振筛选与历史读取口径。</a:t>
            </a:r>
          </a:p>
          <a:p xmlns:a="http://schemas.openxmlformats.org/drawingml/2006/main">
            <a:r>
              <a:t>- [S2] learning_records/RCWA_learning_checkpoint_2026-08-27.md，RGB固定几何和红光周期。</a:t>
            </a:r>
          </a:p>
          <a:p xmlns:a="http://schemas.openxmlformats.org/drawingml/2006/main">
            <a:r>
              <a:t>- [S3] learning_records/RCWA_learning_checkpoint_2026-08-31.md，周期角约束、高度与k向量。</a:t>
            </a:r>
          </a:p>
          <a:p xmlns:a="http://schemas.openxmlformats.org/drawingml/2006/main">
            <a:r>
              <a:t>- [S4] D:/FDTD_File/RCWA_learning_checkpoint_2026-09-01.md，制造与装调权衡。</a:t>
            </a:r>
          </a:p>
          <a:p xmlns:a="http://schemas.openxmlformats.org/drawingml/2006/main">
            <a:r>
              <a:t>- [S5] learning_records/FDTD_learning_checkpoint_2026-09-01.md，有限8齿模型和后处理失败。</a:t>
            </a:r>
          </a:p>
          <a:p xmlns:a="http://schemas.openxmlformats.org/drawingml/2006/main">
            <a:r>
              <a:t>- [S6] Lumerical_AR_waveguide_learning_summary_and_plan_2026-09-12.md，Stage39–41及早期学习主线。</a:t>
            </a:r>
          </a:p>
          <a:p xmlns:a="http://schemas.openxmlformats.org/drawingml/2006/main">
            <a:r>
              <a:t>- [S7] stage90_bloch_validation_final_summary_2026-09-23.md，Bloch色散与有限峰闭环。</a:t>
            </a:r>
          </a:p>
          <a:p xmlns:a="http://schemas.openxmlformats.org/drawingml/2006/main">
            <a:r>
              <a:t>- [S8] stage91_finite_grating_power_budget_2026-09-23.md，历史功率框记录；净入流与纯入射分母应区分。</a:t>
            </a:r>
          </a:p>
          <a:p xmlns:a="http://schemas.openxmlformats.org/drawingml/2006/main">
            <a:r>
              <a:t>- [S9] stage92_substrate_depth_validation_2026-09-23.md与stage95_slanted_grating_mesh_convergence_2026-09-24.md。</a:t>
            </a:r>
          </a:p>
          <a:p xmlns:a="http://schemas.openxmlformats.org/drawingml/2006/main">
            <a:r>
              <a:t>- [S10] stage105_to_stage112_phase_summary_2026-09-27.md，源启用纠错和有效扫描。</a:t>
            </a:r>
          </a:p>
          <a:p xmlns:a="http://schemas.openxmlformats.org/drawingml/2006/main">
            <a:r>
              <a:t>- [S11] stage137_143_robust_center_adoption_checkpoint_2026-09-28.md，稳健中心与监视面。</a:t>
            </a:r>
          </a:p>
          <a:p xmlns:a="http://schemas.openxmlformats.org/drawingml/2006/main">
            <a:r>
              <a:t>- [S12] LUMERICAL_CHECKPOINT_STAGE175B_2026-09-29.md，累计档案更新至10月17日，前部“当前”指历史版本。</a:t>
            </a:r>
          </a:p>
          <a:p xmlns:a="http://schemas.openxmlformats.org/drawingml/2006/main">
            <a:r>
              <a:t>- [S13] stage207_209_finite_width_background_validation_summary.md及stage210_211_fixed_mode_validation_summary.md。</a:t>
            </a:r>
          </a:p>
          <a:p xmlns:a="http://schemas.openxmlformats.org/drawingml/2006/main">
            <a:r>
              <a:t>- [S14] stage221_226_finite_elliptical_gaussian_validation_summary.md与stage281a源构造脚本。</a:t>
            </a:r>
          </a:p>
          <a:p xmlns:a="http://schemas.openxmlformats.org/drawingml/2006/main">
            <a:r>
              <a:t>- [S15] STAGE242_245_HEIGHT_TOLERANCE_VALIDATION_2026-10-12.md。</a:t>
            </a:r>
          </a:p>
          <a:p xmlns:a="http://schemas.openxmlformats.org/drawingml/2006/main">
            <a:r>
              <a:t>- [S16] STAGE261_262_HEIGHT237NM_VALIDATION_2026-10-13.md及相关JSON。</a:t>
            </a:r>
          </a:p>
          <a:p xmlns:a="http://schemas.openxmlformats.org/drawingml/2006/main">
            <a:r>
              <a:t>- [S17] STAGE265_266_HEIGHT237NM_TOOTH190NM_INTERACTION_2026-10-14.md及相关JSON。</a:t>
            </a:r>
          </a:p>
          <a:p xmlns:a="http://schemas.openxmlformats.org/drawingml/2006/main">
            <a:r>
              <a:t>- [S18] STAGE267_280_TOPSHIFT_OPTIMIZATION_AND_TOLERANCE_SUMMARY_2026-10-15.md。</a:t>
            </a:r>
          </a:p>
          <a:p xmlns:a="http://schemas.openxmlformats.org/drawingml/2006/main">
            <a:r>
              <a:t>- [S19] stage283_284、stage287_291、stage292_293、stage292_298的结果JSON及对应报告。</a:t>
            </a:r>
          </a:p>
          <a:p xmlns:a="http://schemas.openxmlformats.org/drawingml/2006/main">
            <a:r>
              <a:t>- [S20] stage292_293_finalize.py、stage292_298_finalize.py与stage293a/b/c脚本，实际检查范围和评价定义。</a:t>
            </a:r>
          </a:p>
          <a:p xmlns:a="http://schemas.openxmlformats.org/drawingml/2006/main">
            <a:r>
              <a:t>- [S21] D:/FDTD_File/AR_Waveguide_Recent_Learning_20260817.md与learning_progress_20260818.md，早期阵列练习及需更正的解释。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官方资料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[O1] [RCWA Solver Introduction](https://optics.ansys.com/hc/en-us/articles/4414575008787-RCWA-Solver-Introduction)，用于周期模型和求解方法说明。</a:t>
            </a:r>
          </a:p>
          <a:p xmlns:a="http://schemas.openxmlformats.org/drawingml/2006/main">
            <a:r>
              <a:t>- [O2] [RCWA Solver Simulation Object](https://optics.ansys.com/hc/en-us/articles/12959229278611-RCWA-Solver-Simulation-Object)，用于grating_orders与grating_power归一化定义。</a:t>
            </a:r>
          </a:p>
          <a:p xmlns:a="http://schemas.openxmlformats.org/drawingml/2006/main">
            <a:r>
              <a:t>- [O3] [Import source Simulation object](https://optics.ansys.com/hc/en-us/articles/360034383014-Import-source-Simulation-object)，用于导入E/H、频率场形和源验证。</a:t>
            </a:r>
          </a:p>
          <a:p xmlns:a="http://schemas.openxmlformats.org/drawingml/2006/main">
            <a:r>
              <a:t>- [O4] [Introduction to Lumerical datasets](https://optics.ansys.com/hc/en-us/articles/360034409554-Introduction-to-Lumerical-datasets)，用于数据轴与矢量分量说明。</a:t>
            </a:r>
          </a:p>
          <a:p xmlns:a="http://schemas.openxmlformats.org/drawingml/2006/main">
            <a:r>
              <a:t>- [O5] [integrate Script command](https://optics.ansys.com/hc/en-us/articles/360034405814-integrate-Script-command)，用于积分维度、坐标和单点维度行为。</a:t>
            </a:r>
          </a:p>
          <a:p xmlns:a="http://schemas.openxmlformats.org/drawingml/2006/main">
            <a:r>
              <a:t>- [O6] [Using and understanding Mode Expansion Monitors](https://optics.ansys.com/hc/en-us/articles/360034902433-Using-and-understanding-Mode-Expansion-Monitors)，用于模式系数与归一化功率。</a:t>
            </a:r>
          </a:p>
          <a:p xmlns:a="http://schemas.openxmlformats.org/drawingml/2006/main">
            <a:r>
              <a:t>- [O7] [Convergence testing process for FDTD simulations](https://optics.ansys.com/hc/en-us/articles/360034915833-Convergence-testing-process-for-FDTD-simulations)，用于数值验证方法。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官方资料核对日期为2026年10月22日。软件界面可能随小版本变化，具体操作以当前对象类型和实际属性为准。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第61页｜主要来源与查阅方法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主要本地来源及官方资料链接列于备注。正文中的历史图表均来自保存记录，未在本课件制作中重新求解。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历史结论保留当时条件。发生后续更正时，优先核对原始数据和定义。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第22章 文件目录与可追溯资料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直接来源</a:t>
            </a:r>
          </a:p>
          <a:p xmlns:a="http://schemas.openxmlformats.org/drawingml/2006/main">
            <a:r>
              <a:t>[O1] https://optics.ansys.com/hc/en-us/articles/4414575008787-RCWA-Solver-Introduction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[O2] https://optics.ansys.com/hc/en-us/articles/12959229278611-RCWA-Solver-Simulation-Object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[O3] https://optics.ansys.com/hc/en-us/articles/360034383014-Import-source-Simulation-object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[O4] https://optics.ansys.com/hc/en-us/articles/360034409554-Introduction-to-Lumerical-datasets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[O5] https://optics.ansys.com/hc/en-us/articles/360034405814-integrate-Script-command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[O6] https://optics.ansys.com/hc/en-us/articles/360034902433-Using-and-understanding-Mode-Expansion-Monitors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[O7] https://optics.ansys.com/hc/en-us/articles/360034915833-Convergence-testing-process-for-FDTD-simulations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[S19] D:/Codex/Kai/stage283_284_final_geometry_wz0p45_three_point_results.json</a:t>
            </a:r>
          </a:p>
          <a:p xmlns:a="http://schemas.openxmlformats.org/drawingml/2006/main">
            <a:r>
              <a:t>D:/Codex/Kai/stage287_291_width1p5um_three_point_results.json</a:t>
            </a:r>
          </a:p>
          <a:p xmlns:a="http://schemas.openxmlformats.org/drawingml/2006/main">
            <a:r>
              <a:t>D:/Codex/Kai/stage292_293_width1p4um_wz0p55_nominal_results.json</a:t>
            </a:r>
          </a:p>
          <a:p xmlns:a="http://schemas.openxmlformats.org/drawingml/2006/main">
            <a:r>
              <a:t>D:/Codex/Kai/stage292_298_width1p4um_three_point_results.json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完整来源目录</a:t>
            </a:r>
          </a:p>
          <a:p xmlns:a="http://schemas.openxmlformats.org/drawingml/2006/main">
            <a:r>
              <a:t>[S1] D:/Codex/Kai/learning_records/RCWA_learning_checkpoint_2026-08-25.md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D:/Codex/Kai/learning_records/RCWA_learning_checkpoint_2026-08-27.md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D:/Codex/Kai/learning_records/RCWA_learning_checkpoint_2026-08-31.md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D:/FDTD_File/RCWA_learning_checkpoint_2026-09-01.md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D:/Codex/Kai/learning_records/FDTD_learning_checkpoint_2026-09-01.md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[S6] D:/Codex/Kai/Lumerical_AR_waveguide_learning_summary_and_plan_2026-09-12.md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[S7] D:/Codex/Kai/stage90_bloch_validation_final_summary_2026-09-23.md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D:/Codex/Kai/stage91_finite_grating_power_budget_2026-09-23.md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D:/Codex/Kai/stage92_substrate_depth_validation_2026-09-23.md</a:t>
            </a:r>
          </a:p>
          <a:p xmlns:a="http://schemas.openxmlformats.org/drawingml/2006/main">
            <a:r>
              <a:t>D:/Codex/Kai/stage95_slanted_grating_mesh_convergence_2026-09-24.md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[S10] D:/Codex/Kai/stage105_to_stage112_phase_summary_2026-09-27.md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[S11] D:/Codex/Kai/stage137_143_robust_center_adoption_checkpoint_2026-09-28.md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[S12] D:/Codex/Kai/LUMERICAL_CHECKPOINT_STAGE175B_2026-09-29.md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[S13] D:/Codex/Kai/stage207_209_finite_width_background_validation_summary.md</a:t>
            </a:r>
          </a:p>
          <a:p xmlns:a="http://schemas.openxmlformats.org/drawingml/2006/main">
            <a:r>
              <a:t>D:/Codex/Kai/stage210_211_fixed_mode_validation_summary.md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[S14] D:/Codex/Kai/stage221_226_finite_elliptical_gaussian_validation_summary.md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[S15] D:/Codex/Kai/STAGE242_245_HEIGHT_TOLERANCE_VALIDATION_2026-10-12.md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[S16] D:/Codex/Kai/STAGE261_262_HEIGHT237NM_VALIDATION_2026-10-13.md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[S17] D:/Codex/Kai/STAGE265_266_HEIGHT237NM_TOOTH190NM_INTERACTION_2026-10-14.md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[S18] D:/Codex/Kai/STAGE267_280_TOPSHIFT_OPTIMIZATION_AND_TOLERANCE_SUMMARY_2026-10-15.md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[S19] D:/Codex/Kai/stage283_284_final_geometry_wz0p45_three_point_results.json</a:t>
            </a:r>
          </a:p>
          <a:p xmlns:a="http://schemas.openxmlformats.org/drawingml/2006/main">
            <a:r>
              <a:t>D:/Codex/Kai/stage287_291_width1p5um_three_point_results.json</a:t>
            </a:r>
          </a:p>
          <a:p xmlns:a="http://schemas.openxmlformats.org/drawingml/2006/main">
            <a:r>
              <a:t>D:/Codex/Kai/stage292_293_width1p4um_wz0p55_nominal_results.json</a:t>
            </a:r>
          </a:p>
          <a:p xmlns:a="http://schemas.openxmlformats.org/drawingml/2006/main">
            <a:r>
              <a:t>D:/Codex/Kai/stage292_298_width1p4um_three_point_results.json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[S20] D:/Codex/Kai/stage292_293_finalize.py</a:t>
            </a:r>
          </a:p>
          <a:p xmlns:a="http://schemas.openxmlformats.org/drawingml/2006/main">
            <a:r>
              <a:t>D:/Codex/Kai/stage292_298_finalize.py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[S21] D:/FDTD_File/AR_Waveguide_Recent_Learning_20260817.md</a:t>
            </a:r>
          </a:p>
          <a:p xmlns:a="http://schemas.openxmlformats.org/drawingml/2006/main">
            <a:r>
              <a:t>D:/FDTD_File/learning_progress_20260818.md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[O1] https://optics.ansys.com/hc/en-us/articles/4414575008787-RCWA-Solver-Introduction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[O2] https://optics.ansys.com/hc/en-us/articles/12959229278611-RCWA-Solver-Simulation-Object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[O3] https://optics.ansys.com/hc/en-us/articles/360034383014-Import-source-Simulation-object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[O4] https://optics.ansys.com/hc/en-us/articles/360034409554-Introduction-to-Lumerical-datasets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[O5] https://optics.ansys.com/hc/en-us/articles/360034405814-integrate-Script-command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[O6] https://optics.ansys.com/hc/en-us/articles/360034902433-Using-and-understanding-Mode-Expansion-Monitors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[O7] https://optics.ansys.com/hc/en-us/articles/360034915833-Convergence-testing-process-for-FDTD-simulations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第62页｜阶段目录：入门至 Stage104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这是按现存学习档案归纳的阶段目录。文件名中的阶段号只用于检索，结果有效性需参考当时报告与后续审计。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对应原文件可在学习导航中按Stage检索。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第11章 Stage46至104完成了哪些物理验证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第63页｜阶段目录：Stage105–199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累计档案LUMERICAL_CHECKPOINT_STAGE175B_2026-09-29.md的追加内容实际延伸到后续阶段。文件前部的“当前”通常代表写下当时的状态，不应覆盖更新后的结论。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二维历史结果为学习案例，当前三维候选需要对应验证。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第12章 Stage105至199形成二维设计闭环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第64页｜阶段目录：Stage200–298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目前结果存档到Stage298，不应因阶段号较大就把项目判断为产品设计完成。仍需区分教学模型、局部验证与系统产品要求。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接下来先完成理解与关键假设审计，再执行有限范围的工程验证。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第13章 Stage200至229为什么转入三维测量重建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第65页｜常用术语速查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讲解与细节</a:t>
            </a:r>
          </a:p>
          <a:p xmlns:a="http://schemas.openxmlformats.org/drawingml/2006/main">
            <a:r>
              <a:t>最后复述当前定位：638 nm单色入耦候选，Wz1.40 µm，名义净导模约7.836%。这仍是特定源、模式筛选和测量条件下的局部结果。下一课只读确认源，画清光路并解释分母。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本页结论</a:t>
            </a:r>
          </a:p>
          <a:p xmlns:a="http://schemas.openxmlformats.org/drawingml/2006/main">
            <a:r>
              <a:t>下一步：解释一个已有结果，手动复现一个小实验，再独立决定下一点。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手册定位</a:t>
            </a:r>
          </a:p>
          <a:p xmlns:a="http://schemas.openxmlformats.org/drawingml/2006/main">
            <a:r>
              <a:t>D:\Codex\Kai\output\AR波导学习总档案_2026-10-22/学习手册.md</a:t>
            </a:r>
          </a:p>
          <a:p xmlns:a="http://schemas.openxmlformats.org/drawingml/2006/main">
            <a:r>
              <a:t>第21章 自测题与参考答案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8474239fa4a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7f72cbe5d48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17cd3bf9e47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0823a85d44c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2602420a745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62346167f44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4D12DA-E7E6-42BB-BCDA-E4D0373070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EB1F64-A002-4F27-912E-3205D66B15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BEFBA7-3CA4-4898-8CD7-D6A5F6E39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F10988-4E2E-4FC5-BB6C-5EF3E3C066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F6AD14-32D2-4383-969D-3803F6A021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D17CD3-5745-4166-A55E-46ACDA135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0FB114-DD73-45D0-AF0C-BF9F9C3B0C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006978-9828-446A-B369-A9FDE1B330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26B102-6CE2-42EF-9485-EB110CF8F9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AD35EA-7179-4118-8A20-028A42139F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53db890f34291" /><Relationship Type="http://schemas.openxmlformats.org/officeDocument/2006/relationships/slideLayout" Target="/ppt/slideLayouts/slideLayout1.xml" Id="R18d30339e9de4f8c" /><Relationship Type="http://schemas.openxmlformats.org/officeDocument/2006/relationships/slideLayout" Target="/ppt/slideLayouts/slideLayout2.xml" Id="R177b58616766472c" /><Relationship Type="http://schemas.openxmlformats.org/officeDocument/2006/relationships/slideLayout" Target="/ppt/slideLayouts/slideLayout3.xml" Id="R56f4054ca76044da" /><Relationship Type="http://schemas.openxmlformats.org/officeDocument/2006/relationships/slideLayout" Target="/ppt/slideLayouts/slideLayout4.xml" Id="R7cc0c61835684a33" /><Relationship Type="http://schemas.openxmlformats.org/officeDocument/2006/relationships/slideLayout" Target="/ppt/slideLayouts/slideLayout5.xml" Id="R83cbd1bad8ac46cd" /><Relationship Type="http://schemas.openxmlformats.org/officeDocument/2006/relationships/slideLayout" Target="/ppt/slideLayouts/slideLayout6.xml" Id="Rd3fb6808d1904d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30339e9de4f8c"/>
    <p:sldLayoutId xmlns:r="http://schemas.openxmlformats.org/officeDocument/2006/relationships" id="2147483650" r:id="R177b58616766472c"/>
    <p:sldLayoutId xmlns:r="http://schemas.openxmlformats.org/officeDocument/2006/relationships" id="2147483651" r:id="R56f4054ca76044da"/>
    <p:sldLayoutId xmlns:r="http://schemas.openxmlformats.org/officeDocument/2006/relationships" id="2147483652" r:id="R7cc0c61835684a33"/>
    <p:sldLayoutId xmlns:r="http://schemas.openxmlformats.org/officeDocument/2006/relationships" id="2147483653" r:id="R83cbd1bad8ac46cd"/>
    <p:sldLayoutId xmlns:r="http://schemas.openxmlformats.org/officeDocument/2006/relationships" id="2147483654" r:id="Rd3fb6808d1904d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b7ffc59e049fc" /><Relationship Type="http://schemas.openxmlformats.org/officeDocument/2006/relationships/image" Target="/ppt/media/image.png" Id="R49b21ab2400d456e" /><Relationship Type="http://schemas.openxmlformats.org/officeDocument/2006/relationships/notesSlide" Target="/ppt/notesSlides/notesSlide1.xml" Id="Rcd664a445bc9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0e4511a544f2e" /><Relationship Type="http://schemas.openxmlformats.org/officeDocument/2006/relationships/notesSlide" Target="/ppt/notesSlides/notesSlide2.xml" Id="Rc9e934ad475947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e947ced5444052" /><Relationship Type="http://schemas.openxmlformats.org/officeDocument/2006/relationships/notesSlide" Target="/ppt/notesSlides/notesSlide3.xml" Id="R3fb5bccee9cc4b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ab364801a419e" /><Relationship Type="http://schemas.openxmlformats.org/officeDocument/2006/relationships/notesSlide" Target="/ppt/notesSlides/notesSlide4.xml" Id="Rfefd8a24258b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4bf3fa9d447b8" /><Relationship Type="http://schemas.openxmlformats.org/officeDocument/2006/relationships/notesSlide" Target="/ppt/notesSlides/notesSlide5.xml" Id="R4c132fee5acc42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1f102c55b4c0b" /><Relationship Type="http://schemas.openxmlformats.org/officeDocument/2006/relationships/notesSlide" Target="/ppt/notesSlides/notesSlide6.xml" Id="Ra4e25776c4d14e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d283ffaa34c85" /><Relationship Type="http://schemas.openxmlformats.org/officeDocument/2006/relationships/notesSlide" Target="/ppt/notesSlides/notesSlide7.xml" Id="Raf82733e34614f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89526e5e1e4639" /><Relationship Type="http://schemas.openxmlformats.org/officeDocument/2006/relationships/notesSlide" Target="/ppt/notesSlides/notesSlide8.xml" Id="R9551e5e409914a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bf9a88a814558" /><Relationship Type="http://schemas.openxmlformats.org/officeDocument/2006/relationships/notesSlide" Target="/ppt/notesSlides/notesSlide9.xml" Id="R15c3a6a8fded4c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8c85ed5fe4960" /><Relationship Type="http://schemas.openxmlformats.org/officeDocument/2006/relationships/notesSlide" Target="/ppt/notesSlides/notesSlide10.xml" Id="R3438ee446e864e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c68fc0f6c4218" /><Relationship Type="http://schemas.openxmlformats.org/officeDocument/2006/relationships/notesSlide" Target="/ppt/notesSlides/notesSlide11.xml" Id="R3e9db3131ee545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f4545c15c42a3" /><Relationship Type="http://schemas.openxmlformats.org/officeDocument/2006/relationships/notesSlide" Target="/ppt/notesSlides/notesSlide12.xml" Id="Reee76a30eaea4c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0bde314e54605" /><Relationship Type="http://schemas.openxmlformats.org/officeDocument/2006/relationships/notesSlide" Target="/ppt/notesSlides/notesSlide13.xml" Id="Rcaaed0b882cb4b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01c55f3dc4fc2" /><Relationship Type="http://schemas.openxmlformats.org/officeDocument/2006/relationships/notesSlide" Target="/ppt/notesSlides/notesSlide14.xml" Id="R437d0bb0f05d47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3229da54f4e69" /><Relationship Type="http://schemas.openxmlformats.org/officeDocument/2006/relationships/notesSlide" Target="/ppt/notesSlides/notesSlide15.xml" Id="Rc4fe34a5504741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93e7b75684882" /><Relationship Type="http://schemas.openxmlformats.org/officeDocument/2006/relationships/notesSlide" Target="/ppt/notesSlides/notesSlide16.xml" Id="Rcc7a5c461ba64f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b86c0309c4343" /><Relationship Type="http://schemas.openxmlformats.org/officeDocument/2006/relationships/notesSlide" Target="/ppt/notesSlides/notesSlide17.xml" Id="R3990e4075d3143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5795a426a4d9c" /><Relationship Type="http://schemas.openxmlformats.org/officeDocument/2006/relationships/notesSlide" Target="/ppt/notesSlides/notesSlide18.xml" Id="Rf401600605bc4d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1b3e5747df4dbe" /><Relationship Type="http://schemas.openxmlformats.org/officeDocument/2006/relationships/notesSlide" Target="/ppt/notesSlides/notesSlide19.xml" Id="R6ed2ea8bf2d84e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5fb20973e4e53" /><Relationship Type="http://schemas.openxmlformats.org/officeDocument/2006/relationships/notesSlide" Target="/ppt/notesSlides/notesSlide20.xml" Id="R94ed447a40c349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b2bcfa7304395" /><Relationship Type="http://schemas.openxmlformats.org/officeDocument/2006/relationships/notesSlide" Target="/ppt/notesSlides/notesSlide21.xml" Id="Rf71387b63bc34d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0c95b3c9041c8" /><Relationship Type="http://schemas.openxmlformats.org/officeDocument/2006/relationships/chart" Target="/ppt/slides/charts/chart1.xml" Id="R8f728f3e70e54e4d" /><Relationship Type="http://schemas.openxmlformats.org/officeDocument/2006/relationships/notesSlide" Target="/ppt/notesSlides/notesSlide22.xml" Id="Rcad3226fe3ba49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8d56b0d3f427a" /><Relationship Type="http://schemas.openxmlformats.org/officeDocument/2006/relationships/notesSlide" Target="/ppt/notesSlides/notesSlide23.xml" Id="Rba0bfbf9df5047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cf18bc53c4f87" /><Relationship Type="http://schemas.openxmlformats.org/officeDocument/2006/relationships/notesSlide" Target="/ppt/notesSlides/notesSlide24.xml" Id="Ra797ca3578754a8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a30350fe848eb" /><Relationship Type="http://schemas.openxmlformats.org/officeDocument/2006/relationships/notesSlide" Target="/ppt/notesSlides/notesSlide25.xml" Id="R8aff15053b8147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d496aa3aa4ed4" /><Relationship Type="http://schemas.openxmlformats.org/officeDocument/2006/relationships/chart" Target="/ppt/slides/charts/chart2.xml" Id="Rf2962be24e824146" /><Relationship Type="http://schemas.openxmlformats.org/officeDocument/2006/relationships/notesSlide" Target="/ppt/notesSlides/notesSlide26.xml" Id="R93d7124c77cd46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f65220d66488a" /><Relationship Type="http://schemas.openxmlformats.org/officeDocument/2006/relationships/notesSlide" Target="/ppt/notesSlides/notesSlide27.xml" Id="R175644fa154140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90bc85e7b4c90" /><Relationship Type="http://schemas.openxmlformats.org/officeDocument/2006/relationships/notesSlide" Target="/ppt/notesSlides/notesSlide28.xml" Id="Rbcf0116c19ba4f3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d6bde52424266" /><Relationship Type="http://schemas.openxmlformats.org/officeDocument/2006/relationships/notesSlide" Target="/ppt/notesSlides/notesSlide29.xml" Id="R6943e5bc5f314f4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2f85332fd4dcf" /><Relationship Type="http://schemas.openxmlformats.org/officeDocument/2006/relationships/notesSlide" Target="/ppt/notesSlides/notesSlide30.xml" Id="R1823b914a8b440a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867c4d4844cc8" /><Relationship Type="http://schemas.openxmlformats.org/officeDocument/2006/relationships/notesSlide" Target="/ppt/notesSlides/notesSlide31.xml" Id="R038dfe23882244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b51feb8f941a4" /><Relationship Type="http://schemas.openxmlformats.org/officeDocument/2006/relationships/chart" Target="/ppt/slides/charts/chart3.xml" Id="R0845e85afda249d9" /><Relationship Type="http://schemas.openxmlformats.org/officeDocument/2006/relationships/notesSlide" Target="/ppt/notesSlides/notesSlide32.xml" Id="Rab1e13cba369471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45d75d837463a" /><Relationship Type="http://schemas.openxmlformats.org/officeDocument/2006/relationships/notesSlide" Target="/ppt/notesSlides/notesSlide33.xml" Id="R6b123cd762d04cc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785c4ad9947f8" /><Relationship Type="http://schemas.openxmlformats.org/officeDocument/2006/relationships/notesSlide" Target="/ppt/notesSlides/notesSlide34.xml" Id="R9bced170933a482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7daafc49c4aba" /><Relationship Type="http://schemas.openxmlformats.org/officeDocument/2006/relationships/notesSlide" Target="/ppt/notesSlides/notesSlide35.xml" Id="R3a4e49fcf1cc4a9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a32564be34bf9" /><Relationship Type="http://schemas.openxmlformats.org/officeDocument/2006/relationships/notesSlide" Target="/ppt/notesSlides/notesSlide36.xml" Id="R5b336d3c61d1406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bfbc8769b41fe" /><Relationship Type="http://schemas.openxmlformats.org/officeDocument/2006/relationships/notesSlide" Target="/ppt/notesSlides/notesSlide37.xml" Id="R937d738b8755423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467b676f5456f" /><Relationship Type="http://schemas.openxmlformats.org/officeDocument/2006/relationships/notesSlide" Target="/ppt/notesSlides/notesSlide38.xml" Id="Rdfcabf35b0d4405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0cfc6b0714cfb" /><Relationship Type="http://schemas.openxmlformats.org/officeDocument/2006/relationships/chart" Target="/ppt/slides/charts/chart4.xml" Id="R323e6f25cb4f4ac1" /><Relationship Type="http://schemas.openxmlformats.org/officeDocument/2006/relationships/notesSlide" Target="/ppt/notesSlides/notesSlide39.xml" Id="Rbe05467fa815438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8956614ef4721" /><Relationship Type="http://schemas.openxmlformats.org/officeDocument/2006/relationships/chart" Target="/ppt/slides/charts/chart5.xml" Id="Rf72ab10ebcf240e3" /><Relationship Type="http://schemas.openxmlformats.org/officeDocument/2006/relationships/notesSlide" Target="/ppt/notesSlides/notesSlide40.xml" Id="R5dcc1834a8a7404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fe99ac41a4f9d" /><Relationship Type="http://schemas.openxmlformats.org/officeDocument/2006/relationships/notesSlide" Target="/ppt/notesSlides/notesSlide41.xml" Id="Race3f9f4cb944f9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9f270e3c34f1f" /><Relationship Type="http://schemas.openxmlformats.org/officeDocument/2006/relationships/chart" Target="/ppt/slides/charts/chart6.xml" Id="R450320cd37a04221" /><Relationship Type="http://schemas.openxmlformats.org/officeDocument/2006/relationships/notesSlide" Target="/ppt/notesSlides/notesSlide42.xml" Id="Ra0b715ff0c63413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bdce15971404e" /><Relationship Type="http://schemas.openxmlformats.org/officeDocument/2006/relationships/chart" Target="/ppt/slides/charts/chart7.xml" Id="Rb803253fffcc4a2b" /><Relationship Type="http://schemas.openxmlformats.org/officeDocument/2006/relationships/notesSlide" Target="/ppt/notesSlides/notesSlide43.xml" Id="R4868cc40250b42b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f7c6f998d4231" /><Relationship Type="http://schemas.openxmlformats.org/officeDocument/2006/relationships/notesSlide" Target="/ppt/notesSlides/notesSlide44.xml" Id="Re7cf7106ae50438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f4387af454cf8" /><Relationship Type="http://schemas.openxmlformats.org/officeDocument/2006/relationships/notesSlide" Target="/ppt/notesSlides/notesSlide45.xml" Id="R9120ce135084461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dfcd316db487c" /><Relationship Type="http://schemas.openxmlformats.org/officeDocument/2006/relationships/notesSlide" Target="/ppt/notesSlides/notesSlide46.xml" Id="R815153dafebc415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c483303ec42e4" /><Relationship Type="http://schemas.openxmlformats.org/officeDocument/2006/relationships/notesSlide" Target="/ppt/notesSlides/notesSlide47.xml" Id="Rb5d8a97db5254a4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bc828bc45423a" /><Relationship Type="http://schemas.openxmlformats.org/officeDocument/2006/relationships/notesSlide" Target="/ppt/notesSlides/notesSlide48.xml" Id="R718b6bf8103f42a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1eecf95a64913" /><Relationship Type="http://schemas.openxmlformats.org/officeDocument/2006/relationships/notesSlide" Target="/ppt/notesSlides/notesSlide49.xml" Id="R37a86d5430d2452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f2921657443e2" /><Relationship Type="http://schemas.openxmlformats.org/officeDocument/2006/relationships/notesSlide" Target="/ppt/notesSlides/notesSlide50.xml" Id="R92c8daedca604a4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01d11e6d249de" /><Relationship Type="http://schemas.openxmlformats.org/officeDocument/2006/relationships/notesSlide" Target="/ppt/notesSlides/notesSlide51.xml" Id="R43cdcad4fc7f431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1cc95e4224688" /><Relationship Type="http://schemas.openxmlformats.org/officeDocument/2006/relationships/notesSlide" Target="/ppt/notesSlides/notesSlide52.xml" Id="R9b2c55bb448b4bd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06042610a42d7" /><Relationship Type="http://schemas.openxmlformats.org/officeDocument/2006/relationships/notesSlide" Target="/ppt/notesSlides/notesSlide53.xml" Id="R690291336ee648f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27624bd404b46" /><Relationship Type="http://schemas.openxmlformats.org/officeDocument/2006/relationships/notesSlide" Target="/ppt/notesSlides/notesSlide54.xml" Id="R8ffcfa7bf0894fd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01a00a4e94994" /><Relationship Type="http://schemas.openxmlformats.org/officeDocument/2006/relationships/notesSlide" Target="/ppt/notesSlides/notesSlide55.xml" Id="Rb87396cde4c842e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983dff7204263" /><Relationship Type="http://schemas.openxmlformats.org/officeDocument/2006/relationships/notesSlide" Target="/ppt/notesSlides/notesSlide56.xml" Id="R3633bc75b1164f2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a44fbdfae46a8" /><Relationship Type="http://schemas.openxmlformats.org/officeDocument/2006/relationships/notesSlide" Target="/ppt/notesSlides/notesSlide57.xml" Id="R0419fdbc847e40b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9fa38de1849c8" /><Relationship Type="http://schemas.openxmlformats.org/officeDocument/2006/relationships/notesSlide" Target="/ppt/notesSlides/notesSlide58.xml" Id="Rbe0ab2c6fbbe440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66b63a989445b" /><Relationship Type="http://schemas.openxmlformats.org/officeDocument/2006/relationships/notesSlide" Target="/ppt/notesSlides/notesSlide59.xml" Id="Rd1f97f7132df462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862e71af54cc9" /><Relationship Type="http://schemas.openxmlformats.org/officeDocument/2006/relationships/notesSlide" Target="/ppt/notesSlides/notesSlide60.xml" Id="R21932a798adb425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dd1e402754020" /><Relationship Type="http://schemas.openxmlformats.org/officeDocument/2006/relationships/notesSlide" Target="/ppt/notesSlides/notesSlide61.xml" Id="Rd7b7e444694b44f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58720a7b0641a0" /><Relationship Type="http://schemas.openxmlformats.org/officeDocument/2006/relationships/notesSlide" Target="/ppt/notesSlides/notesSlide62.xml" Id="R22b395372731427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256e148a04c1e" /><Relationship Type="http://schemas.openxmlformats.org/officeDocument/2006/relationships/notesSlide" Target="/ppt/notesSlides/notesSlide63.xml" Id="R1b1f28d56e204be2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5ca5d14cd4ca3" /><Relationship Type="http://schemas.openxmlformats.org/officeDocument/2006/relationships/notesSlide" Target="/ppt/notesSlides/notesSlide64.xml" Id="R7169e9a4ab514a8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d5cad649b4bf9" /><Relationship Type="http://schemas.openxmlformats.org/officeDocument/2006/relationships/notesSlide" Target="/ppt/notesSlides/notesSlide65.xml" Id="R2bd6ad0518a143d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TM</c:v>
          </c:tx>
          <c:spPr>
            <a:solidFill xmlns:a="http://schemas.openxmlformats.org/drawingml/2006/main">
              <a:srgbClr val="167E83"/>
            </a:solidFill>
            <a:ln xmlns:a="http://schemas.openxmlformats.org/drawingml/2006/main" w="28575">
              <a:solidFill>
                <a:srgbClr val="167E83"/>
              </a:solidFill>
            </a:ln>
          </c:spPr>
          <c:invertIfNegative val="0"/>
          <c:cat>
            <c:numLit>
              <c:formatCode>General</c:formatCode>
              <c:ptCount val="3"/>
              <c:pt idx="0">
                <c:v>450</c:v>
              </c:pt>
              <c:pt idx="1">
                <c:v>532</c:v>
              </c:pt>
              <c:pt idx="2">
                <c:v>638</c:v>
              </c:pt>
            </c:numLit>
          </c:cat>
          <c:val>
            <c:numLit>
              <c:formatCode>0</c:formatCode>
              <c:ptCount val="3"/>
              <c:pt idx="0">
                <c:v>59.7657</c:v>
              </c:pt>
              <c:pt idx="1">
                <c:v>43.242</c:v>
              </c:pt>
              <c:pt idx="2">
                <c:v>3.1385</c:v>
              </c:pt>
            </c:numLit>
          </c:val>
        </c:ser>
        <c:ser>
          <c:idx val="1"/>
          <c:order val="1"/>
          <c:tx>
            <c:v>TE</c:v>
          </c:tx>
          <c:spPr>
            <a:solidFill xmlns:a="http://schemas.openxmlformats.org/drawingml/2006/main">
              <a:srgbClr val="B97940"/>
            </a:solidFill>
            <a:ln xmlns:a="http://schemas.openxmlformats.org/drawingml/2006/main" w="28575">
              <a:solidFill>
                <a:srgbClr val="B97940"/>
              </a:solidFill>
            </a:ln>
          </c:spPr>
          <c:invertIfNegative val="0"/>
          <c:cat>
            <c:numLit>
              <c:formatCode>General</c:formatCode>
              <c:ptCount val="3"/>
              <c:pt idx="0">
                <c:v>450</c:v>
              </c:pt>
              <c:pt idx="1">
                <c:v>532</c:v>
              </c:pt>
              <c:pt idx="2">
                <c:v>638</c:v>
              </c:pt>
            </c:numLit>
          </c:cat>
          <c:val>
            <c:numLit>
              <c:formatCode>0</c:formatCode>
              <c:ptCount val="3"/>
              <c:pt idx="0">
                <c:v>57.9004</c:v>
              </c:pt>
              <c:pt idx="1">
                <c:v>43.4901</c:v>
              </c:pt>
              <c:pt idx="2">
                <c:v>10.5295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44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波长 / 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8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历史级次指标 ×100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9444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Stage39</c:v>
          </c:tx>
          <c:spPr>
            <a:solidFill xmlns:a="http://schemas.openxmlformats.org/drawingml/2006/main">
              <a:srgbClr val="167E83"/>
            </a:solidFill>
            <a:ln xmlns:a="http://schemas.openxmlformats.org/drawingml/2006/main" w="28575">
              <a:solidFill>
                <a:srgbClr val="167E83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167E83"/>
              </a:solidFill>
            </c:spPr>
          </c:marker>
          <c:xVal>
            <c:numLit>
              <c:formatCode>General</c:formatCode>
              <c:ptCount val="3"/>
              <c:pt idx="0">
                <c:v>0.8</c:v>
              </c:pt>
              <c:pt idx="1">
                <c:v>1</c:v>
              </c:pt>
              <c:pt idx="2">
                <c:v>1.2</c:v>
              </c:pt>
            </c:numLit>
          </c:xVal>
          <c:yVal>
            <c:numLit>
              <c:formatCode>0.000</c:formatCode>
              <c:ptCount val="3"/>
              <c:pt idx="0">
                <c:v>0.0239297</c:v>
              </c:pt>
              <c:pt idx="1">
                <c:v>0.0182883</c:v>
              </c:pt>
              <c:pt idx="2">
                <c:v>0.00852685</c:v>
              </c:pt>
            </c:numLit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44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模式读数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0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005"/>
      </c:valAx>
      <c:valAx>
        <c:axId val="48650112"/>
        <c:scaling>
          <c:orientation val="minMax"/>
          <c:max val="1.3"/>
          <c:min val="0.7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报告面间距 / µm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BAC8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.7"/>
        <c:majorUnit val="0.1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历史中心值</c:v>
          </c:tx>
          <c:spPr>
            <a:solidFill xmlns:a="http://schemas.openxmlformats.org/drawingml/2006/main">
              <a:srgbClr val="167E83"/>
            </a:solidFill>
            <a:ln xmlns:a="http://schemas.openxmlformats.org/drawingml/2006/main" w="28575">
              <a:solidFill>
                <a:srgbClr val="167E83"/>
              </a:solidFill>
            </a:ln>
          </c:spPr>
          <c:invertIfNegative val="0"/>
          <c:cat>
            <c:strLit>
              <c:ptCount val="2"/>
              <c:pt idx="0">
                <c:v>span 20 nm</c:v>
              </c:pt>
              <c:pt idx="1">
                <c:v>span 0 nm</c:v>
              </c:pt>
            </c:strLit>
          </c:cat>
          <c:val>
            <c:numLit>
              <c:formatCode>0</c:formatCode>
              <c:ptCount val="2"/>
              <c:pt idx="0">
                <c:v>78.37</c:v>
              </c:pt>
              <c:pt idx="1">
                <c:v>59.9241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44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同一旧二维几何的源设置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8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中心波长历史读数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三点高度检验</c:v>
          </c:tx>
          <c:spPr>
            <a:solidFill xmlns:a="http://schemas.openxmlformats.org/drawingml/2006/main">
              <a:srgbClr val="167E83"/>
            </a:solidFill>
            <a:ln xmlns:a="http://schemas.openxmlformats.org/drawingml/2006/main" w="28575">
              <a:solidFill>
                <a:srgbClr val="167E83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167E83"/>
              </a:solidFill>
            </c:spPr>
          </c:marker>
          <c:xVal>
            <c:numLit>
              <c:formatCode>General</c:formatCode>
              <c:ptCount val="3"/>
              <c:pt idx="0">
                <c:v>300</c:v>
              </c:pt>
              <c:pt idx="1">
                <c:v>310</c:v>
              </c:pt>
              <c:pt idx="2">
                <c:v>320</c:v>
              </c:pt>
            </c:numLit>
          </c:xVal>
          <c:yVal>
            <c:numLit>
              <c:formatCode>0.0</c:formatCode>
              <c:ptCount val="3"/>
              <c:pt idx="0">
                <c:v>2.195387</c:v>
              </c:pt>
              <c:pt idx="1">
                <c:v>1.308103</c:v>
              </c:pt>
              <c:pt idx="2">
                <c:v>0.620073</c:v>
              </c:pt>
            </c:numLit>
          </c:yVal>
          <c:smooth val="0"/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44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总净导模指标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330"/>
          <c:min val="29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齿高 / 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AC8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290"/>
        <c:majorUnit val="10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已计算点</c:v>
          </c:tx>
          <c:spPr>
            <a:solidFill xmlns:a="http://schemas.openxmlformats.org/drawingml/2006/main">
              <a:srgbClr val="167E83"/>
            </a:solidFill>
            <a:ln xmlns:a="http://schemas.openxmlformats.org/drawingml/2006/main" w="28575">
              <a:solidFill>
                <a:srgbClr val="167E83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167E83"/>
              </a:solidFill>
            </c:spPr>
          </c:marker>
          <c:xVal>
            <c:numLit>
              <c:formatCode>General</c:formatCode>
              <c:ptCount val="11"/>
              <c:pt idx="0">
                <c:v>230</c:v>
              </c:pt>
              <c:pt idx="1">
                <c:v>237</c:v>
              </c:pt>
              <c:pt idx="2">
                <c:v>240</c:v>
              </c:pt>
              <c:pt idx="3">
                <c:v>250</c:v>
              </c:pt>
              <c:pt idx="4">
                <c:v>260</c:v>
              </c:pt>
              <c:pt idx="5">
                <c:v>270</c:v>
              </c:pt>
              <c:pt idx="6">
                <c:v>280</c:v>
              </c:pt>
              <c:pt idx="7">
                <c:v>290</c:v>
              </c:pt>
              <c:pt idx="8">
                <c:v>300</c:v>
              </c:pt>
              <c:pt idx="9">
                <c:v>310</c:v>
              </c:pt>
              <c:pt idx="10">
                <c:v>320</c:v>
              </c:pt>
            </c:numLit>
          </c:xVal>
          <c:yVal>
            <c:numLit>
              <c:formatCode>0.0</c:formatCode>
              <c:ptCount val="11"/>
              <c:pt idx="0">
                <c:v>6.214362</c:v>
              </c:pt>
              <c:pt idx="1">
                <c:v>6.287361</c:v>
              </c:pt>
              <c:pt idx="2">
                <c:v>6.278298</c:v>
              </c:pt>
              <c:pt idx="3">
                <c:v>6.053978</c:v>
              </c:pt>
              <c:pt idx="4">
                <c:v>5.564175</c:v>
              </c:pt>
              <c:pt idx="5">
                <c:v>4.859499</c:v>
              </c:pt>
              <c:pt idx="6">
                <c:v>4.018999</c:v>
              </c:pt>
              <c:pt idx="7">
                <c:v>3.108422</c:v>
              </c:pt>
              <c:pt idx="8">
                <c:v>2.195387</c:v>
              </c:pt>
              <c:pt idx="9">
                <c:v>1.308103</c:v>
              </c:pt>
              <c:pt idx="10">
                <c:v>0.620073</c:v>
              </c:pt>
            </c:numLit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44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总净导模指标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30"/>
          <c:min val="2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齿高 / 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AC8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220"/>
        <c:majorUnit val="20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总净导模</c:v>
          </c:tx>
          <c:spPr>
            <a:solidFill xmlns:a="http://schemas.openxmlformats.org/drawingml/2006/main">
              <a:srgbClr val="167E83"/>
            </a:solidFill>
            <a:ln xmlns:a="http://schemas.openxmlformats.org/drawingml/2006/main" w="28575">
              <a:solidFill>
                <a:srgbClr val="167E83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167E83"/>
              </a:solidFill>
            </c:spPr>
          </c:marker>
          <c:xVal>
            <c:numLit>
              <c:formatCode>General</c:formatCode>
              <c:ptCount val="7"/>
              <c:pt idx="0">
                <c:v>-300</c:v>
              </c:pt>
              <c:pt idx="1">
                <c:v>-290</c:v>
              </c:pt>
              <c:pt idx="2">
                <c:v>-280</c:v>
              </c:pt>
              <c:pt idx="3">
                <c:v>-270</c:v>
              </c:pt>
              <c:pt idx="4">
                <c:v>-260</c:v>
              </c:pt>
              <c:pt idx="5">
                <c:v>-250</c:v>
              </c:pt>
              <c:pt idx="6">
                <c:v>-240</c:v>
              </c:pt>
            </c:numLit>
          </c:xVal>
          <c:yVal>
            <c:numLit>
              <c:formatCode>0.0</c:formatCode>
              <c:ptCount val="7"/>
              <c:pt idx="0">
                <c:v>6.473807</c:v>
              </c:pt>
              <c:pt idx="1">
                <c:v>6.477015</c:v>
              </c:pt>
              <c:pt idx="2">
                <c:v>6.463939</c:v>
              </c:pt>
              <c:pt idx="3">
                <c:v>6.436615</c:v>
              </c:pt>
              <c:pt idx="4">
                <c:v>6.400463</c:v>
              </c:pt>
              <c:pt idx="5">
                <c:v>6.35326</c:v>
              </c:pt>
              <c:pt idx="6">
                <c:v>6.299981</c:v>
              </c:pt>
            </c:numLit>
          </c:yVal>
          <c:smooth val="0"/>
        </c:ser>
        <c:ser>
          <c:idx val="1"/>
          <c:order val="1"/>
          <c:tx>
            <c:v>mode1 前向</c:v>
          </c:tx>
          <c:spPr>
            <a:solidFill xmlns:a="http://schemas.openxmlformats.org/drawingml/2006/main">
              <a:srgbClr val="B97940"/>
            </a:solidFill>
            <a:ln xmlns:a="http://schemas.openxmlformats.org/drawingml/2006/main" w="28575">
              <a:solidFill>
                <a:srgbClr val="B97940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B97940"/>
              </a:solidFill>
            </c:spPr>
          </c:marker>
          <c:xVal>
            <c:numLit>
              <c:formatCode>General</c:formatCode>
              <c:ptCount val="7"/>
              <c:pt idx="0">
                <c:v>-300</c:v>
              </c:pt>
              <c:pt idx="1">
                <c:v>-290</c:v>
              </c:pt>
              <c:pt idx="2">
                <c:v>-280</c:v>
              </c:pt>
              <c:pt idx="3">
                <c:v>-270</c:v>
              </c:pt>
              <c:pt idx="4">
                <c:v>-260</c:v>
              </c:pt>
              <c:pt idx="5">
                <c:v>-250</c:v>
              </c:pt>
              <c:pt idx="6">
                <c:v>-240</c:v>
              </c:pt>
            </c:numLit>
          </c:xVal>
          <c:yVal>
            <c:numLit>
              <c:formatCode>0.0</c:formatCode>
              <c:ptCount val="7"/>
              <c:pt idx="0">
                <c:v>4.267286</c:v>
              </c:pt>
              <c:pt idx="1">
                <c:v>4.27942</c:v>
              </c:pt>
              <c:pt idx="2">
                <c:v>4.280641</c:v>
              </c:pt>
              <c:pt idx="3">
                <c:v>4.272075</c:v>
              </c:pt>
              <c:pt idx="4">
                <c:v>4.257262</c:v>
              </c:pt>
              <c:pt idx="5">
                <c:v>4.2345</c:v>
              </c:pt>
              <c:pt idx="6">
                <c:v>4.206953</c:v>
              </c:pt>
            </c:numLit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44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.8"/>
          <c:min val="3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按入射功率归一化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-230"/>
          <c:min val="-31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顶部偏移 / 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AC8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-310"/>
        <c:majorUnit val="20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9444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Wz 0.75 µm</c:v>
          </c:tx>
          <c:spPr>
            <a:solidFill xmlns:a="http://schemas.openxmlformats.org/drawingml/2006/main">
              <a:srgbClr val="9B8D7D"/>
            </a:solidFill>
            <a:ln xmlns:a="http://schemas.openxmlformats.org/drawingml/2006/main" w="28575">
              <a:solidFill>
                <a:srgbClr val="9B8D7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9B8D7D"/>
              </a:solidFill>
            </c:spPr>
          </c:marker>
          <c:xVal>
            <c:numLit>
              <c:formatCode>General</c:formatCode>
              <c:ptCount val="3"/>
              <c:pt idx="0">
                <c:v>0.45</c:v>
              </c:pt>
              <c:pt idx="1">
                <c:v>0.55</c:v>
              </c:pt>
              <c:pt idx="2">
                <c:v>0.65</c:v>
              </c:pt>
            </c:numLit>
          </c:xVal>
          <c:yVal>
            <c:numLit>
              <c:formatCode>0.0</c:formatCode>
              <c:ptCount val="3"/>
              <c:pt idx="0">
                <c:v>7.68437352293321</c:v>
              </c:pt>
              <c:pt idx="1">
                <c:v>7.103324304340738</c:v>
              </c:pt>
              <c:pt idx="2">
                <c:v>6.4770148869470985</c:v>
              </c:pt>
            </c:numLit>
          </c:yVal>
          <c:smooth val="0"/>
        </c:ser>
        <c:ser>
          <c:idx val="1"/>
          <c:order val="1"/>
          <c:tx>
            <c:v>Wz 1.50 µm</c:v>
          </c:tx>
          <c:spPr>
            <a:solidFill xmlns:a="http://schemas.openxmlformats.org/drawingml/2006/main">
              <a:srgbClr val="899BA2"/>
            </a:solidFill>
            <a:ln xmlns:a="http://schemas.openxmlformats.org/drawingml/2006/main" w="28575">
              <a:solidFill>
                <a:srgbClr val="899BA2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899BA2"/>
              </a:solidFill>
            </c:spPr>
          </c:marker>
          <c:xVal>
            <c:numLit>
              <c:formatCode>General</c:formatCode>
              <c:ptCount val="3"/>
              <c:pt idx="0">
                <c:v>0.45</c:v>
              </c:pt>
              <c:pt idx="1">
                <c:v>0.55</c:v>
              </c:pt>
              <c:pt idx="2">
                <c:v>0.65</c:v>
              </c:pt>
            </c:numLit>
          </c:xVal>
          <c:yVal>
            <c:numLit>
              <c:formatCode>0.0</c:formatCode>
              <c:ptCount val="3"/>
              <c:pt idx="0">
                <c:v>7.516980216103426</c:v>
              </c:pt>
              <c:pt idx="1">
                <c:v>7.718561545020437</c:v>
              </c:pt>
              <c:pt idx="2">
                <c:v>7.646533802113476</c:v>
              </c:pt>
            </c:numLit>
          </c:yVal>
          <c:smooth val="0"/>
        </c:ser>
        <c:ser>
          <c:idx val="2"/>
          <c:order val="2"/>
          <c:tx>
            <c:v>Wz 1.40 µm</c:v>
          </c:tx>
          <c:spPr>
            <a:solidFill xmlns:a="http://schemas.openxmlformats.org/drawingml/2006/main">
              <a:srgbClr val="167E83"/>
            </a:solidFill>
            <a:ln xmlns:a="http://schemas.openxmlformats.org/drawingml/2006/main" w="38100">
              <a:solidFill>
                <a:srgbClr val="167E83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167E83"/>
              </a:solidFill>
            </c:spPr>
          </c:marker>
          <c:xVal>
            <c:numLit>
              <c:formatCode>General</c:formatCode>
              <c:ptCount val="3"/>
              <c:pt idx="0">
                <c:v>0.45</c:v>
              </c:pt>
              <c:pt idx="1">
                <c:v>0.55</c:v>
              </c:pt>
              <c:pt idx="2">
                <c:v>0.65</c:v>
              </c:pt>
            </c:numLit>
          </c:xVal>
          <c:yVal>
            <c:numLit>
              <c:formatCode>0.0</c:formatCode>
              <c:ptCount val="3"/>
              <c:pt idx="0">
                <c:v>7.742006805590567</c:v>
              </c:pt>
              <c:pt idx="1">
                <c:v>7.835998920760556</c:v>
              </c:pt>
              <c:pt idx="2">
                <c:v>7.652342133006281</c:v>
              </c:pt>
            </c:numLit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9444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6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总净导模指标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3"/>
      </c:valAx>
      <c:valAx>
        <c:axId val="48650112"/>
        <c:scaling>
          <c:orientation val="minMax"/>
          <c:max val="0.7"/>
          <c:min val="0.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83F4A"/>
                    </a:solidFill>
                    <a:latin typeface="Microsoft YaHei"/>
                    <a:ea typeface="Microsoft YaHei"/>
                    <a:cs typeface="Microsoft YaHei"/>
                  </a:rPr>
                  <a:t>输入光束半径 wz / µm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83F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BAC8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.4"/>
        <c:majorUnit val="0.05"/>
      </c:valAx>
      <c:spPr>
        <a:solidFill xmlns:a="http://schemas.openxmlformats.org/drawingml/2006/main">
          <a:srgbClr val="F6F5F1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9444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6F5F1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28780-EBC5-4F68-B92E-53205B1B1B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21ab2400d456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D434FAE8-319B-4E37-AF4D-083DD9C2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Lumerical FDTD 2026 R1 · RCWA</a:t>
            </a:r>
          </a:p>
        </p:txBody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A4CF2224-EB81-4C93-8503-C069952B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19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AR 波导光栅</a:t>
            </a:r>
          </a:p>
          <a:p xmlns:a="http://schemas.openxmlformats.org/drawingml/2006/main">
            <a:pPr algn="l">
              <a:def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完整学习复盘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F9B5625A-0159-45BD-A0A2-3AE6146F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671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原理、实验细节与下一阶段计划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F1CC6BF7-0193-40EA-AE45-17A6ED28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91150"/>
            <a:ext cx="704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638 nm 入耦器专题</a:t>
            </a:r>
          </a:p>
          <a:p xmlns:a="http://schemas.openxmlformats.org/drawingml/2006/main">
            <a:pPr algn="l">
              <a:def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2026年10月23日 · 复习与学习用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D3F13C9E-C9CD-42B9-B698-30E9EDC6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38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概念示意 · 非仿真结果</a:t>
            </a:r>
          </a:p>
        </p:txBody>
      </p:sp>
    </p:spTree>
    <p:extLst>
      <p:ext uri="{BB962C8B-B14F-4D97-AF65-F5344CB8AC3E}">
        <p14:creationId xmlns:p14="http://schemas.microsoft.com/office/powerpoint/2010/main" val="850059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81D624D9-E1D2-43F3-9820-1C5E4ED2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阅读目录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052FAB09-1F2B-4D73-875C-7512892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学习总览  /  02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A911B77B-03D7-4191-8BC5-106E1A7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第一次先看第3、7、16、43、47、53页，随后按章节复习。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BE04D-B9AE-4A42-BF70-89EC2B6CD9EA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4016"/>
                <a:gridCol w="5376672"/>
                <a:gridCol w="3182112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当前定位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做到了哪里，为什么感觉仍然不会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物理与操作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坐标、参数、级次、效率、脚本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6–20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历次实验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从532 nm入门到三维测量重建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21–38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近期优化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齿高、齿宽、偏移、三光斑验证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39–47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后续学习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排错、实验设计、课程与工程验证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48–59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查阅附录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恢复文件、来源、阶段目录、术语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60–65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42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EE575F2E-52BE-4BA5-909E-7C0939C3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工程进度与学习进度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4819DEE4-AD1C-41D1-9E32-43D3850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学习总览  /  03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86D7C4B0-CDD8-4A1B-9726-1846999F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当前位置：三维入耦候选的工程验证入口。独立理解需要单独验收。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F7C0B-FFCD-4E47-968D-F31444E91E82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3744"/>
                <a:gridCol w="4279392"/>
                <a:gridCol w="4169664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现有工程记录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仍需完成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RCWA周期单元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532/638 nm、偏振与几何筛选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独立解释级次和归一化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二维有限FDTD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相位峰、部分收敛与公差实验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复述每种验证的适用范围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三维有限光束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Stage292–298局部候选结果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当前源与测量有效性审计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工程化验证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基准文件与计划已保存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波长、角度、位置和制造偏差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AR光学系统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已有概念学习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扩瞳、眼盒、RGB与成像模型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349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518C5A42-1584-4EEB-BEB6-F8655C1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入耦器在 AR 光路中的位置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7C59E36D-BCE4-4003-A533-72C7F320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学习总览  /  04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9B877934-21F4-48A5-9AC1-18B3767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局部耦合效率只覆盖光路的一段，系统还需要输入规格与下游传播模型。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E3B69-44B2-4F87-89D8-F21D44675E20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389120"/>
                <a:gridCol w="3840480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光路部分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它负责什么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与当前工作关系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显示与投影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把图像位置映射到传播角度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决定输入光谱、角域和偏振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入耦光栅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把入射光耦合到波导传播通道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当前主要仿真范围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波导与扩瞳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传播并复制出瞳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需要系统级空间与角度分析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出耦与眼睛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把光送到眼盒并形成可见图像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决定均匀性、视场和成像表现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659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AFBCF321-D446-4247-8DBD-77C3B57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每轮计算对应的四类问题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7130D60F-9A4F-4156-BCF8-4D9A690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学习总览  /  05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B5C2C7AA-1434-458B-8441-7070DBB2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一次实验只回答一个明确问题，结果才能支持下一次决策。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24C9E-1A12-4F78-90D5-988547DFEE41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4016"/>
                <a:gridCol w="4279392"/>
                <a:gridCol w="4279392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主要手段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方向是否匹配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周期、角度、波长与模式传播常数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相位关系与响应峰位置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能耦合多少功率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齿宽、齿高、形状与有限口径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同一输入下的目标通道功率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读数是否可信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源、模式、网格、边界与报告面检查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固定物理问题后的数值稳定性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变化后是否可靠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照明、装调与制造扰动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最差值与预先确定的规格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662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66C61391-22D6-41DD-A18B-5CCF469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坐标与对象尺寸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22B58F66-7036-4B85-8229-BE7E4F6B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06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CC1851F2-CC2F-4348-9625-E26D0B0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对象名字和屏幕视角都不能代替全局坐标与顶点。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E0534-6AFA-4010-AC73-05531901D33A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4288"/>
                <a:gridCol w="4169664"/>
                <a:gridCol w="4498848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方向或对象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后期有限FDTD约定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查看时注意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光栅排列与波导传播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周期与单齿宽主要沿x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厚度与上下方向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高度、齿底和入射面位置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横向有限宽度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光栅总宽Wz与光束wz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x/y/z span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对象沿各轴的包围范围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倾斜多边形还要检查顶点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RCWA传播轴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沿层法向，横向假设周期重复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先映射坐标，再迁移几何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089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E6DD8B40-E6BF-45DD-B697-FCAB24BA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当前候选的几何参数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42AB7D7E-08DD-470C-8D38-CE2EB2D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07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E4D844EE-7F03-46E9-AAF6-9E36BCBE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这是后期三维候选的记录，早期二维最优参数采用另一组几何。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57BB-A826-4424-B4BA-AD004433AC0B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3744"/>
                <a:gridCol w="2743200"/>
                <a:gridCol w="5705856"/>
              </a:tblGrid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物理含义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 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328.75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影响相邻齿的相位关系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齿宽 w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改变填充比例和散射响应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占空比 w/Λ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约57.79%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 ÷ 328.75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齿高 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237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改变扰动强度与散射相位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顶部偏移 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−290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改变左右不对称性与倾斜形状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横向宽度 Wz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有限光栅沿z的口径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齿数 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影响阵列长度和光束覆盖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977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5929D10F-A624-487A-BED6-83192345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输入条件与数值设置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4BEA861-8039-4D89-BF4C-509A6F1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08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CD2D6A0-3FEC-479B-999E-678C8E4F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1 µm = 1000 nm。638 nm = 0.638 µm = 6.38×10⁻⁷ m。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2BA75-5416-4EE7-811C-783E6A0A2D56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3291840"/>
                <a:gridCol w="4937760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当前或历史名义值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为什么重要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638 nm，红光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改变材料响应与传播常数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源生成角度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−15.1°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决定入射场面内相位斜率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x向源参数 wx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须核对源生成脚本的定义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z向场半径 wz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名义0.55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端点为0.45和0.65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报告面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历史采用x=7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定义在哪里提取右行场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网格与PML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从对象实际属性读取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对象名可能保留旧网格名称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743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85602A4E-4F09-44E0-BD8B-B70FF3A0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全反射条件与第一次计算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36FFA69A-B5D0-41CE-8339-B0DD7E4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09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4A69AF89-1DE0-44E4-B028-BAABC439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界面两侧实际材料决定临界角，名称为substrate的对象未必是低折射率包层。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A92BD966-A400-490A-AC5C-63C7FD1A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θc = arcsin(n₂ / n₁)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769AB008-CE2D-492B-BD39-EEBAAE39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n₁ = 1.8，n₂ = 1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θc = arcsin(1 / 1.8) ≈ 33.75°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E8C5D65C-957D-45B3-AD00-7B02A191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角度从界面法线量起。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光从高折射率介质射向低折射率介质。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内部入射角大于临界角，才满足该界面的全反射条件。</a:t>
            </a:r>
          </a:p>
        </p:txBody>
      </p:sp>
    </p:spTree>
    <p:extLst>
      <p:ext uri="{BB962C8B-B14F-4D97-AF65-F5344CB8AC3E}">
        <p14:creationId xmlns:p14="http://schemas.microsoft.com/office/powerpoint/2010/main" val="1556096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06B3F004-B0C1-473D-9213-3101ECC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衍射级次与传播方向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E1802884-AB7B-4F61-8F3E-D62B554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10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6548FDD5-1226-45C0-BC79-E7A3BA66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AR入耦器没有统一规定必须使用+1级。目标传播方向决定所选通道。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54AF3F7A-EDD2-40A2-95A7-B9A3F46C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n_out sinθ_out = n_in sinθ_in + mλ/Λ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FC423CD9-83F5-40AD-AD79-C4FAC05F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532 nm，空气正入射，n_out = 1.8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Λ = 532 / (1.8 × sin50°) ≈ 385.82 nm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3C40CF29-EF38-4528-9A98-1E1C374F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m取整数，正负号由坐标方向和倒格矢约定决定。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0级没有增加光栅动量，通常难以直接匹配束缚导模。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反正弦输入的绝对值超过1，表示该均匀介质中无传播级。</a:t>
            </a:r>
          </a:p>
        </p:txBody>
      </p:sp>
    </p:spTree>
    <p:extLst>
      <p:ext uri="{BB962C8B-B14F-4D97-AF65-F5344CB8AC3E}">
        <p14:creationId xmlns:p14="http://schemas.microsoft.com/office/powerpoint/2010/main" val="1378134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16398780-DE9A-45C9-9BA5-8848B075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导模相位匹配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7DA55478-0D40-4625-8E9D-8950E0A2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11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13035341-0DE9-4C20-A688-0ACE1DE6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手算用于给出合理起点，有限器件扫描用于核验实际响应。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EA061A4F-3E7C-443A-B680-FA5FCB41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β = k₀n_eff = kx,in + mG，G = 2π/Λ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4EA4504F-4F9A-4EC3-B4A1-6A85E14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λ = 638 nm，Λ = 328.75 nm，θ = −15.1°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sin(−15.1°) + 638/328.75 ≈ 1.679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EFF576D4-465F-4BA6-8576-CB54470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材料折射率n描述材料，n_eff描述指定截面中的模式。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手算得到所需相位条件，实际有限器件峰还受散射和覆盖影响。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周期加载后的相位特征可以与裸波导模式不同。</a:t>
            </a:r>
          </a:p>
        </p:txBody>
      </p:sp>
    </p:spTree>
    <p:extLst>
      <p:ext uri="{BB962C8B-B14F-4D97-AF65-F5344CB8AC3E}">
        <p14:creationId xmlns:p14="http://schemas.microsoft.com/office/powerpoint/2010/main" val="3443494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BF950D1E-C788-4435-99B7-94DFEBF1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TE、TM 与 mode1 的区别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A2279C60-4ADC-492D-B737-91D4B34C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12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17523DFA-3D2E-4970-A50F-08367665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模式编号、偏振名称和衍射级次属于三个不同概念。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17899-A414-4EBC-BD88-39741C6F45EB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4016"/>
                <a:gridCol w="4718304"/>
                <a:gridCol w="3840480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定义或含义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/ TE入射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电场垂直于入射面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入射面、E分量和传播方向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TM入射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电场平行于入射面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入射面、E分量和传播方向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TE-like / TM-like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波导模式的偏振特征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软件约定、TE fraction及场剖面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mode1 / mode2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求模得到的模式编号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n_eff、场形和排序规则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 / −1级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周期结构的衍射通道标签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倒格矢、坐标和出射方向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0355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3032B7BA-58CC-42CD-802C-55BDB445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RCWA、FDTD 与 Bloch 分析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E6A74DEC-0FA2-44F1-87F3-9BF8A321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13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147C0B5D-7230-4CE1-8056-201E7D5A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求解器选择取决于问题的边界与尺度。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DF185-9D6B-4BAC-931C-D5FBBD0785C2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3744"/>
                <a:gridCol w="4279392"/>
                <a:gridCol w="4169664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适合回答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主要范围或假设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RCWA周期单元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偏振与衍射功率分配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横向无限周期，通常平面波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二维有限FDTD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有限齿数、边缘和局部耦合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一个方向保持不变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Bloch单元分析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加载结构的色散和共振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本征性质与有限效率需区分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三维有限FDTD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有限宽度、光束与三维散射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源与模式测量成本更高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系统级传播模型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FOV、眼盒、扩瞳和成像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使用局部元件数据或等效模型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3356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01BF13BA-8A35-4FD3-AC09-F5041AA3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RCWA 的 k 向量数与收敛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3439E87B-5C0F-4186-8ED1-61018289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14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28EC9727-CADD-4F48-8289-7E616673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历史0.1个百分点只是当时教学容许误差，应按当前问题重新定标准。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0924E-CFF8-478C-93E9-9FD62EC5EB83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72384"/>
                <a:gridCol w="3950208"/>
                <a:gridCol w="3950208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数值意义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历史例子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物理波矢k或G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表示传播和光栅动量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出现在相位匹配方程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 number k vectors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控制保留的谐波数量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40、60、80、100、120、150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参考与误差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固定结构，仅改精度参数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以150为参考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100档与150档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历史TM指标差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约0.0245个百分点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60档与150档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历史TM指标差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约0.0947个百分点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7472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B1983327-3252-4DEE-BE2E-8625321D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结果名称与功率定义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D96328F4-B9F4-43DA-8813-1DF9A832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15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4225A143-B18B-4326-A206-0D19075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报告数值前，同时交代模型、输入、目标通道与分母。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80325-1F60-492A-B9D2-682056A8F43A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498848"/>
                <a:gridCol w="3730752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分子或含义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|E|²场图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局部场强分布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亮点可能是局部增强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signed 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监视面的有符号净通量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abs会丢失方向信息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一级衍射功率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某平面波级次功率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与有限波导模式不同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mode1前向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指定模式的前向功率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模式排序可能变化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总净导模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所选导模前向减后向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需说明导模筛选条件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模式占比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mode1除以前向导模总和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分母不是输入功率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907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">
            <a:extLst xmlns:a="http://schemas.openxmlformats.org/drawingml/2006/main">
              <a:ext uri="{FF2B5EF4-FFF2-40B4-BE49-F238E27FC236}">
                <a16:creationId xmlns:a16="http://schemas.microsoft.com/office/drawing/2014/main" id="{59C9AD79-4B46-4F3D-BAE8-0F6358E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7.836%、6.119%、78.084% 怎么同时成立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2C4312A3-66BF-4D07-849D-BCB92C34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16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C501180F-CBC6-4914-B6FC-FB49E9DE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638 nm、Wz=1.40 µm、wz=0.55 µm，均为当前后处理定义下的局部结果。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6BFB1-EB8D-4AAC-B740-758BCC934BFE}"/>
              </a:ext>
            </a:extLst>
          </p:cNvPr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58102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3740"/>
                <a:gridCol w="255651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占入射功率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所选导模前向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7.836445%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所选导模后向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0.000446%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总净导模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7.835999%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mode1 前向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6.118999%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3F7CD2F7-AFDA-4543-B789-B60E0521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mode1 的前向功率占比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D46A78E7-D47B-42A1-8C54-EF7A51E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4572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6.118999 ÷ 7.836445</a:t>
            </a:r>
          </a:p>
          <a:p xmlns:a="http://schemas.openxmlformats.org/drawingml/2006/main">
            <a:pPr algn="l">
              <a:def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≈ 78.0839%</a:t>
            </a:r>
          </a:p>
        </p:txBody>
      </p:sp>
      <p:sp>
        <p:nvSpPr>
          <p:cNvPr id="7" name="正文">
            <a:extLst xmlns:a="http://schemas.openxmlformats.org/drawingml/2006/main">
              <a:ext uri="{FF2B5EF4-FFF2-40B4-BE49-F238E27FC236}">
                <a16:creationId xmlns:a16="http://schemas.microsoft.com/office/drawing/2014/main" id="{BAB2A90F-8804-4787-B807-E39520E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38625"/>
            <a:ext cx="4524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rPr>
              <a:t>前两个效率除以输入功率。</a:t>
            </a:r>
          </a:p>
          <a:p xmlns:a="http://schemas.openxmlformats.org/drawingml/2006/main">
            <a:pPr algn="l">
              <a:def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rPr>
              <a:t>最后一个占比除以导模前向总和。</a:t>
            </a:r>
          </a:p>
        </p:txBody>
      </p:sp>
    </p:spTree>
    <p:extLst>
      <p:ext uri="{BB962C8B-B14F-4D97-AF65-F5344CB8AC3E}">
        <p14:creationId xmlns:p14="http://schemas.microsoft.com/office/powerpoint/2010/main" val="12917477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E226B508-7795-4CC9-BBBC-899F3E8E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场图与 322×1×1×1×3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CA7EE357-7D64-4B9C-AEB8-674D71D1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17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0E800C8E-48B5-4FA2-A750-21C654E6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维度解释必须与数据集元数据一致。早期把末尾3解释为三个频点需要更正。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CE9D4156-436D-477F-8068-191CFD65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|E|² = |Ex|² + |Ey|² + |Ez|²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DD89DF77-075B-416B-91B0-AB82E93C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标准矢量数据集示例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322 × 1 × 1 × 1 × 3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Nx × Ny × Nz × Nf × 矢量分量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8678A35B-167D-4416-979F-E3AEA497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先看属性名称、坐标轴、单位和频率。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末尾的3通常表示x/y/z三个矢量分量。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pinch只移除单点维度，不能代替理解数据的物理含义。</a:t>
            </a:r>
          </a:p>
        </p:txBody>
      </p:sp>
    </p:spTree>
    <p:extLst>
      <p:ext uri="{BB962C8B-B14F-4D97-AF65-F5344CB8AC3E}">
        <p14:creationId xmlns:p14="http://schemas.microsoft.com/office/powerpoint/2010/main" val="12829445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9A45295E-4DFD-4B68-B07F-11623B90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功率积分与有符号通量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025DFD47-D6D7-4D77-ACA1-007D5AB0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18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0E529643-EED1-4994-98ED-4F53BF13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使用软件P字段时先核对其定义，避免重复或遗漏时均因子。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7CB0F251-9CB6-4C9A-833B-92056DA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S = ½ Re(E × H*)，P = ∫ S·n dA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F4923071-0F22-407A-BE68-0AE2063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空间积分的通用语法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integrate(A, n, x1)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integrate(A, d, x1, x2, ...)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6779B485-91D1-413B-AED9-28B4C64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x-normal面取法向Sx，y-normal面取Sy。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积分维度必须与对应坐标向量匹配。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对多个连续截面求和，可能重复统计同一束光。</a:t>
            </a:r>
          </a:p>
        </p:txBody>
      </p:sp>
    </p:spTree>
    <p:extLst>
      <p:ext uri="{BB962C8B-B14F-4D97-AF65-F5344CB8AC3E}">
        <p14:creationId xmlns:p14="http://schemas.microsoft.com/office/powerpoint/2010/main" val="12318309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E56A43CF-182A-41D2-AC62-7E8BB52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界面动作与脚本对应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A9C9DC98-CABA-481A-8E44-2C805056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19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5EF1DEF-2A9B-4AC2-81C2-C4D0027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后台Python可通过lumapi发送这些命令，物理求解仍由Lumerical完成。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5FA13-9E72-43FE-A99F-FA11B98D8EC4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169664"/>
                <a:gridCol w="4059936"/>
              </a:tblGrid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脚本或入口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是否求解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查看对象属性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选中对象后编辑 / getnamed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修改对象属性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属性对话框 / setnamed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切回Layout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switchtolayout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移除当前分析结果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运行仿真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 / run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读取结果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getresult / getdata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通常否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执行脚本文件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feval("文件.lsf")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取决于脚本内部动作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保存工程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save("文件.fsp")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636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756BAB3C-84EE-4E26-80E1-4DA9F879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一次自动扫描的实际过程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F7FFAEB2-721B-4E45-8EEC-05B8785B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物理与操作  /  20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4D5D337-909D-4F08-B8C6-C5BB2FEC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第一次练习可手动做一个点，再让脚本执行完全相同的流程。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2A018-2676-4158-9ACC-A4B5CCD10D14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4718304"/>
                <a:gridCol w="5157216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实际动作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你要能回答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记录基准与固定量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当前打开的是哪个模型？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设置一个参数并读回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改变的是几何还是数值精度？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保存可恢复的设置副本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原结果有没有保留？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运行求解并确认结束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新结果是否对应本次设置？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按固定方法读取目标指标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分子、分母和单位是什么？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保存结果并决定下一点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继续、补点还是停止？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9710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6EBF685D-99B9-434F-A35C-7F3A1CA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最早的 532 nm 与阵列练习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8BA573B3-B4E7-4251-BDCE-CA1D7ED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21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E8424853-4DB5-42A0-B6E8-A66774D9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早期零散数值保留作操作回忆，不能拼成一条已核验的效率提升曲线。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CB2C4563-6B8E-4A64-ABB3-99596A79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99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基础练习包含全反射、约386 nm周期、级次方向与RGB色散。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随后建立材料、FDTD区域、光源、网格和监视器，熟悉Layout与Analysis。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早期67%占空比、约4.2%读数、210 nm齿高属于不同模型阶段。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9条渐变光栅与10个截面用于比较功率，U≈55.1816%只是旧练习记录。</a:t>
            </a:r>
          </a:p>
        </p:txBody>
      </p:sp>
    </p:spTree>
    <p:extLst>
      <p:ext uri="{BB962C8B-B14F-4D97-AF65-F5344CB8AC3E}">
        <p14:creationId xmlns:p14="http://schemas.microsoft.com/office/powerpoint/2010/main" val="17366170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ABD86449-6B94-4CC9-9892-E25CB6FD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固定 335 nm 周期时的 RGB 对比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CB86DD9C-F16E-4509-B1FF-72BEACFF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22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8B13A63B-1247-4066-BF3E-3918BD6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图中为历史grating_orders×100口径，实际功率比例需按入射介质和角度换算。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062F85C-FAFB-41CE-AC5E-F96F6C3FC275}"/>
              </a:ext>
            </a:extLst>
          </p:cNvPr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7334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728f3e70e54e4d"/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E38595E9-7D56-4F9A-9276-528924A3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为什么开始调整周期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54222CC2-1E16-4785-A492-5479897D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绿光候选：d = 51%。</a:t>
            </a:r>
            <a:br/>
            <a:r>
              <a:t>h = 290 nm，θ = −14°。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红光目标级指标明显下降。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先查相位匹配，再调几何。</a:t>
            </a:r>
          </a:p>
        </p:txBody>
      </p:sp>
    </p:spTree>
    <p:extLst>
      <p:ext uri="{BB962C8B-B14F-4D97-AF65-F5344CB8AC3E}">
        <p14:creationId xmlns:p14="http://schemas.microsoft.com/office/powerpoint/2010/main" val="9325734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18B65E98-1C5D-4894-B1E0-12944C0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红光 RCWA 候选的约束选择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EF702963-5702-406A-BE0A-BD824A7F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23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BDADD26A-C7AD-478D-BA79-C0122152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几何候选要同时满足方向、效率和误差余量。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AC57ACA3-7AD7-4311-A756-DE501970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99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保持约48.4°目标内部角，红光周期初估约402 nm。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粗扫380、390、400、410、420 nm，再在邻域检查。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407 nm在当时±1°教学角约束内，输出角约47.432°。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随后比较偏振、公差与角度余量。候选为：</a:t>
            </a:r>
            <a:br/>
            <a:r>
              <a:t>周期407 nm、齿宽210 nm、齿高175 nm。</a:t>
            </a:r>
          </a:p>
        </p:txBody>
      </p:sp>
    </p:spTree>
    <p:extLst>
      <p:ext uri="{BB962C8B-B14F-4D97-AF65-F5344CB8AC3E}">
        <p14:creationId xmlns:p14="http://schemas.microsoft.com/office/powerpoint/2010/main" val="5611473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080E98D6-F5F9-4B48-ACD9-6002A31F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RCWA 两种结果的归一化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B2D65590-2A5A-4C31-9474-29632A49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24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AC27AF0-59E1-40F2-87D0-4A696A0C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历史“具体效率只能看orders”的说法需要更正。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3F59E383-9F77-4AFF-8C6F-93A4C29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grating_orders = grating_power × nᵢ × cosθᵢ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40A9673F-A11A-44CB-B7B6-316AAD49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教学例子：nᵢ = 1，θᵢ = 14°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grating_power = 0.40 时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grating_orders ≈ 0.3881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9ED27E6F-AA31-409B-9F7C-0C81D73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grating_power直接表示各衍射级占入射功率的比例。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两种结果都可带级次标签。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扫入射角或介质时，换算因子也会变化。</a:t>
            </a:r>
          </a:p>
        </p:txBody>
      </p:sp>
    </p:spTree>
    <p:extLst>
      <p:ext uri="{BB962C8B-B14F-4D97-AF65-F5344CB8AC3E}">
        <p14:creationId xmlns:p14="http://schemas.microsoft.com/office/powerpoint/2010/main" val="6815046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4BBB9C28-B493-4DBB-8BE3-B7E77CF8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有限 8 齿 FDTD 的起点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CCB3337-1046-4B30-AA3F-12F84912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25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34C5B549-0C41-4DCB-9A5C-6EFAB01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主仿真结束与后处理有效，需要分别检查。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6BBBC-2407-400F-B1CC-61F6F5C59F1C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3401568"/>
                <a:gridCol w="4828032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初始设置或现象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要解决的问题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红光几何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638 nm，Λ=407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周期单元迁移到有限结构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单齿尺寸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w=210 nm，h=175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保持候选定义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有限阵列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8齿，局部10 nm网格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边缘效应与有限覆盖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模式计算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mode_right后处理曾报错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模式截面、选择与关联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坐标迁移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早期x-z，后来x-y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重新对应偏振和传播方向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2402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7E5310C3-5E79-4BF6-9EC5-605C52BC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报告面移动揭示测量不稳定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708F4729-5207-45DE-8893-337CA34A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26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BE1DD278-1421-4A8D-8C09-7C6CAE1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同一物理通道的读数随报告位置变化很大时，先调查测量定义。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8613226-743E-451A-84A9-31F38BA78A98}"/>
              </a:ext>
            </a:extLst>
          </p:cNvPr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7334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962be24e824146"/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AF0F86E5-A24E-4FF0-BE42-3432CFFF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Stage39 的关键发现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4BE8255D-314A-44C7-9C83-12B2907D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Gaussian源后，三个位置的模式读数仍明显不同。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后续扩大区域再测2/3/4 µm，仍有明显变化。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应检查模式、截面与材料，暂停按最高读数调几何。</a:t>
            </a:r>
          </a:p>
        </p:txBody>
      </p:sp>
    </p:spTree>
    <p:extLst>
      <p:ext uri="{BB962C8B-B14F-4D97-AF65-F5344CB8AC3E}">
        <p14:creationId xmlns:p14="http://schemas.microsoft.com/office/powerpoint/2010/main" val="7028432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FA7BB30B-F3DD-437A-9000-6E1FDC1B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材料层核对与新的周期起点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D3530FF7-FB97-4C83-9783-61A05A51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27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6BDC26E2-F063-4B4C-9EB2-0B38172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真实材料截面决定模式，不能只按对象名字理解波导。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292DBA98-EF2E-4D50-83AB-4256072B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Λ ≈ λ / (n_eff − sinθ)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35CB2A61-58D3-4242-8B3B-6B54ABC3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638 / [1.64452 − sin(−13°)]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≈ 341.27 nm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225BCCEF-34E0-42AC-9C3C-4D1A44A5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Stage44脚本中core和substrate都采用n=1.8。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高折射率总厚度达到约850 nm，超出单个core名称暗示的厚度。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采用当时求得的模式n_eff，重新估计周期起点。</a:t>
            </a:r>
          </a:p>
        </p:txBody>
      </p:sp>
    </p:spTree>
    <p:extLst>
      <p:ext uri="{BB962C8B-B14F-4D97-AF65-F5344CB8AC3E}">
        <p14:creationId xmlns:p14="http://schemas.microsoft.com/office/powerpoint/2010/main" val="16581058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D0049F24-C5C6-40CD-8FB4-6139E960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Stage46–90 的验证主线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F2DC8BC4-1F15-47E0-85F9-D97624D9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28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E0365F22-CF15-4114-ACC2-85402907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历史Bloch预测角−12.9796°与有限峰−13.0358°相差约0.0562°。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C6F00-F31C-4003-B21A-058CD26FA74B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做了什么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需要学会的判断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46–54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周期、占空比、齿高粗细扫描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预测改变方向并夹住局部峰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55–56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网格精度比较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固定物理问题，看数值是否稳定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57–68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波长与单变量制造扰动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区分带宽和公差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69–72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制造误差组合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单变量通过仍可能组合失败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73–80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波长与角度联合响应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识别响应峰随波长移动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81–90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Bloch色散与有限峰对照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用独立模型解释峰的来源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0559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7FB256A9-9B98-40E7-854F-C45C5407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功率预算与倾斜光栅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B88D0A45-915F-4F4B-BFE8-022F9CB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29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3AB094B4-8802-44E9-B798-4C69D102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功率去向、几何增益和数值误差需要分别解释。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CCEB3-B778-4B03-AA7C-4E385817B76F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3472"/>
                <a:gridCol w="4169664"/>
                <a:gridCol w="4169664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历史读数或操作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当时结论与限制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Stage91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右行TM约25.5208%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需要同时看向下与其他输出通道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顶面功率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净流入包含入射与反射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不能直接当作纯入射分母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Stage92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底部加深0.5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TM变化约0.0088个百分点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Stage93–95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引入非对称倾斜齿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改变散射方向与相位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网格5 / 3.5 nm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43.4619% / 43.5041%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该候选差约0.0422个百分点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9613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8E184084-2FC3-4726-A457-6A689F1E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Stage105 的光源状态纠错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8ADCE4AE-0022-4220-BBD9-DFF138EC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30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04DDFCE-D078-416F-901E-06EE8066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参数变化没有影响时，先检查启用对象、当前结果版本与求解是否重跑。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39EB3C0B-94A3-41C5-8E0F-ADE64D38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99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现象：改变入射角后，结果仍然一样。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排查发现Gaussian source被禁用。源预览变化未参与主求解。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启用后由场相位斜率核验角度，−20°设置反算约−19.9981°。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随后重做有效角度、周期和波长比较，Stage112历史TM约32.8656%。</a:t>
            </a:r>
          </a:p>
        </p:txBody>
      </p:sp>
    </p:spTree>
    <p:extLst>
      <p:ext uri="{BB962C8B-B14F-4D97-AF65-F5344CB8AC3E}">
        <p14:creationId xmlns:p14="http://schemas.microsoft.com/office/powerpoint/2010/main" val="17000584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6029E27B-7C6C-4281-BBE3-A987567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稳健中心与高度扫描纠错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2A6606C1-920D-47EA-9FA4-D24A7CC2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31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41F7957-7BD5-4B26-AD60-1E769F24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单变量实验需要固定真实物理界面，不能只固定一个脚本变量名。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55665-863A-46EB-85BA-D73861EAD6FB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3472"/>
                <a:gridCol w="4169664"/>
                <a:gridCol w="4169664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实验与证据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物理解释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113–143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能量、报告面、制造角点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同时检查测量与制造敏感性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16个组合角点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最差保持率约96.40%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属于当时二维结构的证据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144–158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扩展到24齿并复核响应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阵列长度和覆盖条件改变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Stage159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高度变化时漏改对象中心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几何同时向下侵入波导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Stage160以后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固定齿底y=−3.75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重新形成受控高度扫描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40049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359EC7B3-A1CB-4ABA-9DD1-E256145C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光源带宽改变了比较条件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D9142E9-9EB9-4FE3-820F-5BB44AF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32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639E29DB-7949-4006-BA48-C58D2854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图中比较的是两种激励设置，不能记作几何效率提升。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7FD2C8D-D4B4-4F03-B31A-7DBB2A2587DD}"/>
              </a:ext>
            </a:extLst>
          </p:cNvPr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7334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45e85afda249d9"/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D7789A29-469D-4AC2-A359-8B4A67D5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Stage175–181 审计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F5A81C20-D4FE-4D8D-9D24-6BFC405A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同一旧二维几何，改变源带宽设置。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中心值：</a:t>
            </a:r>
            <a:br/>
            <a:r>
              <a:t>78.37% 与 59.9241%。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核对输入场形与归一化，再采用可比基准。</a:t>
            </a:r>
          </a:p>
        </p:txBody>
      </p:sp>
    </p:spTree>
    <p:extLst>
      <p:ext uri="{BB962C8B-B14F-4D97-AF65-F5344CB8AC3E}">
        <p14:creationId xmlns:p14="http://schemas.microsoft.com/office/powerpoint/2010/main" val="12150666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3BB61E43-4712-4EB5-AE28-A46462AE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最后一版二维候选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3F3D5AFF-B27E-4080-8F66-E7F997DF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33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DD5C5AED-5880-42FE-97BC-7113F244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二维假设与当前三维有限宽度、有限光束条件不同。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3B9B0-6F55-4827-B3DD-FBF3536953A9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62656"/>
                <a:gridCol w="3401568"/>
                <a:gridCol w="4608576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Λ328.75 / w185 / h310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shift −240 nm，24齿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638 nm，−15.1°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当时单色激励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mode1前向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约60.6064%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指定模式与报告面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TM前向总和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约62.0770%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所选TM模式集合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直接右侧功率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约61.8808%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包含所测截面的直接通量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生产网格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不能自动证明新三维几何收敛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1556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D12F2970-E848-4E88-B3A9-210C1A5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二维带宽与系统 FOV 的边界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8D8E460-4AF9-487B-A522-324F7107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34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BA509759-363F-487C-A76B-0775547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几何、维度或光束条件改变后，需要明确哪些结论仍可使用。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BE77D-8CB4-4243-986A-DEF36EA5B7BE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2928"/>
                <a:gridCol w="2743200"/>
                <a:gridCol w="5376672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历史结果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可以说明什么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二维3 dB角宽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约5.4133°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该输入与该几何的局部响应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二维3 dB波长宽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约27.538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固定角度下的单色扫描响应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相位折射率反算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约1.6796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波长与峰角关系的交叉参照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AR眼镜FOV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尚未建立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还受显示、传播与出耦限制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当前三维带宽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需针对当前源和几何重新检查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8226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5855FB33-52DA-40B6-8241-D990C2A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二维到三维的桥接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B732F6F1-3780-4694-BF64-46C3584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35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54DA840F-ADDB-4772-A3B3-02FD41CF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每次升级模型，都要先检查变化的假设和测量方式。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CAB59-5CE7-4FD5-8B5F-9055B87F9CF5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389120"/>
                <a:gridCol w="3840480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Stage200–206所做工作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保留的结论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源轴与偏振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核对三维phi方向映射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二维参数不能直接照抄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z网格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dz 20 nm与10 nm比较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直接右侧功率差很小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周期宽度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z单元0.2与0.4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归一化结果基本稳定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跨模型差异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二维与三维仍差约5.27个百分点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内部稳定仍不足以解释差异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模式数量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8、16、32模比较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模态和与直接通量需区别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7225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4E64F7E4-9547-49CB-AD77-60602E23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背景扣除必须保留复场相位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E742DFFE-4573-49E0-82C6-4E85AE39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36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4192C3A9-EDDC-4155-A2B1-42C9527E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先在一致采样上减复场，再计算目标散射功率。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10B6B303-C398-482F-8228-5F75849A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Es = Ep − Er，Hs = Hp − Hr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A34C3BCB-5190-40F5-846F-9133706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Ps = ½ Re ∫(Es × Hs*)·n dA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Pp − Pr 通常还含相干交叉项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E0E6E517-B014-4EFF-8F3B-DFED6253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p：有齿总场。</a:t>
            </a:r>
            <a:br/>
            <a:r>
              <a:t>r：无齿参考场。</a:t>
            </a:r>
            <a:br/>
            <a:r>
              <a:t>s：相对参考的散射场。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两次计算要保持源、网格、相位与报告面一致。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斜入射背景本身可能穿过右侧监视面。</a:t>
            </a:r>
          </a:p>
        </p:txBody>
      </p:sp>
    </p:spTree>
    <p:extLst>
      <p:ext uri="{BB962C8B-B14F-4D97-AF65-F5344CB8AC3E}">
        <p14:creationId xmlns:p14="http://schemas.microsoft.com/office/powerpoint/2010/main" val="83864326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6AAA8810-2A4A-4F5E-A5F1-D70C0551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固定模态基底的测量链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648A4906-06C2-4997-B94F-E2967B87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37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5B6E6C70-68BD-4B60-AE48-CB274E1A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小残差支持内部一致性，仍需检查物理导模分类和源的实际传播。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11BBD-29CD-4C83-810A-B9DEF3EC4E68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4608576"/>
                <a:gridCol w="5266944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检查什么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读取总场与无齿参考复场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坐标、频率和源条件一致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构造散射复场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相位关系与场分量对应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在同一基底投影三组场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前向a、后向b的线性一致性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筛选物理目标模式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n_eff、束缚场、损耗和偏振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求前向与后向功率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保留方向与净值定义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按同一输入功率归一化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输入与目标功率的完整来源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17182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57DC6823-1C78-41B2-B4B8-D2CCF423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有限椭圆光束与光斑半径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60E8B701-608D-4C98-9135-26F0AA9C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历次实验  /  38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1279580-039F-49D2-9210-9A92F2A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导入数据积分可复现，不能单独证明它是真实、严格的三维聚焦光束。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3E642120-EC38-4900-8D55-630869C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E(z) ∝ exp[−(z/wz)²]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25200DE9-C777-4D92-ACD0-2DE5E3D5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572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I(z) ∝ exp[−2(z/wz)²]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强度FWHM全宽 ≈ 1.1774 wz</a:t>
            </a:r>
          </a:p>
          <a:p xmlns:a="http://schemas.openxmlformats.org/drawingml/2006/main">
            <a:pPr algn="l">
              <a:def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wz = 0.55 µm 时，FWHM ≈ 0.648 µm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DAD8B7A4-DECD-4DBF-8E13-75BA69A4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4000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当前做法：二维源的x分布与E/H乘上z向包络。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wz同时为1/e场半径与1/e²强度半径。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wz接近波长，实际三维注入场需要独立验证。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182325142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78B1A4FA-4C4A-48FB-9288-0472E39E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三点齿高检验暴露了强烈趋势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025481A8-075A-481D-99E1-1764E310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39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29234F24-A75A-4DA2-AAC9-A5CC5921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固定Λ328.75 nm、w185 nm、shift−240 nm、Wz0.75 µm、wz0.65 µm。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08A9C13-0A0A-4A99-9CD0-6809A915A128}"/>
              </a:ext>
            </a:extLst>
          </p:cNvPr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7334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3e6f25cb4f4ac1"/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2BC65CF1-4B2F-4546-BACC-15708505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原本只检查 ±10 nm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32330803-9473-45B8-BA63-920B35F0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原迁移高度为310 nm。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降低10 nm明显提升；</a:t>
            </a:r>
            <a:br/>
            <a:r>
              <a:t>升高10 nm明显下降。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三点尚未夹峰，继续沿降低高度的方向取点。</a:t>
            </a:r>
          </a:p>
        </p:txBody>
      </p:sp>
    </p:spTree>
    <p:extLst>
      <p:ext uri="{BB962C8B-B14F-4D97-AF65-F5344CB8AC3E}">
        <p14:creationId xmlns:p14="http://schemas.microsoft.com/office/powerpoint/2010/main" val="593637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52DFAE14-2D87-4375-BEC8-0ABFB50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齿高扫描在约 237 nm 附近停止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4DAAEBEA-344C-4039-8BCD-EEC4D3DF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40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85850864-41B5-4ECA-A728-CF02F84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237 nm约6.287361%。拟合237.38 nm只用于选点，不代表另一次真实仿真。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D959A9E-AAF0-441C-97AE-51C1DCA0CC18}"/>
              </a:ext>
            </a:extLst>
          </p:cNvPr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7334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2ab10ebcf240e3"/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F31CCC80-6CD1-4976-9705-9BFAD35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如何判断峰已经夹住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DFDB044A-FCE2-4D9A-A0ED-3C18CA9F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到240 nm时，提升放缓。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230 nm读数下降。</a:t>
            </a:r>
            <a:br/>
            <a:r>
              <a:t>峰位于230–250 nm内。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补跑237 nm后停止细化。</a:t>
            </a:r>
          </a:p>
        </p:txBody>
      </p:sp>
    </p:spTree>
    <p:extLst>
      <p:ext uri="{BB962C8B-B14F-4D97-AF65-F5344CB8AC3E}">
        <p14:creationId xmlns:p14="http://schemas.microsoft.com/office/powerpoint/2010/main" val="152705725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1390DC06-FFAF-412A-A13D-C193C592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齿宽选择取决于目标函数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C339E20-79B5-43E0-817F-BD2BAB5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41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3F2780E7-F6AC-4FB4-8FF5-5368E3F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采用190 nm表示优先总净导模功率，单模纯度目标可能给出另一选择。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2D797-6D0D-4C30-8BCC-6D27C2E408BD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3291840"/>
                <a:gridCol w="4937760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总净导模指标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 nm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约6.2433%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低于邻域候选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 nm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约6.2874%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mode1略高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 nm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约6.3000%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当前总净导模目标更高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拟合建议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约189.51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预测增益小，未继续亚纳米扫描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35039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DAA9E630-7FFF-49AF-9013-124F33AE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顶部偏移的总功率与单模权衡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795E4A06-34D9-4635-9BDE-82ACE536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42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621FB6C-01C3-43BE-BED0-D823A9B4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旧Wz=0.75 µm条件下，shift±10 nm总净导模最差下降约0.202%。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F83A37F-9B3B-4AE4-BBB8-070CC8AD8DC4}"/>
              </a:ext>
            </a:extLst>
          </p:cNvPr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7334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320cd37a04221"/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9782255C-E7D9-4402-B698-B00E4F7A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两个目标给出不同候选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4F9E6DC0-2CA7-46F8-A45D-D381D616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总净导模偏好−290 nm。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mode1偏好−280 nm。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主目标采用−290 nm，</a:t>
            </a:r>
            <a:br/>
            <a:r>
              <a:t>保留−280 nm作备选。</a:t>
            </a:r>
          </a:p>
        </p:txBody>
      </p:sp>
    </p:spTree>
    <p:extLst>
      <p:ext uri="{BB962C8B-B14F-4D97-AF65-F5344CB8AC3E}">
        <p14:creationId xmlns:p14="http://schemas.microsoft.com/office/powerpoint/2010/main" val="200706657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标题">
            <a:extLst xmlns:a="http://schemas.openxmlformats.org/drawingml/2006/main">
              <a:ext uri="{FF2B5EF4-FFF2-40B4-BE49-F238E27FC236}">
                <a16:creationId xmlns:a16="http://schemas.microsoft.com/office/drawing/2014/main" id="{74A45285-54C8-4368-9167-8EA1D7EC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横向宽度改变了三光斑响应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6C89B33A-A173-45CB-9DBC-A2080E1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43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469C44B3-F1D3-4803-9AD8-4FC3EA01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固定638 nm、h237 nm、w190 nm、shift−290 nm，曲线连接已计算点。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F29F71A-08BA-450D-AD0A-2204F28DECAA}"/>
              </a:ext>
            </a:extLst>
          </p:cNvPr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7334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03253fffcc4a2b"/>
          </a:graphicData>
        </a:graphic>
      </p:graphicFrame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E00B9A95-09EA-4A69-A163-57EF9048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525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同一几何族的比较</a:t>
            </a: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5B8F1D42-6089-42E9-9BEC-516A59E4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43150"/>
            <a:ext cx="3429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三个光斑的wz：</a:t>
            </a:r>
            <a:br/>
            <a:r>
              <a:t>0.45、0.55、0.65 µm。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窄光栅Wz = 0.75 µm，</a:t>
            </a:r>
            <a:br/>
            <a:r>
              <a:t>响应变化较大。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195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Wz = 1.40 µm候选，</a:t>
            </a:r>
            <a:br/>
            <a:r>
              <a:t>名义值高、三点变化小。</a:t>
            </a:r>
          </a:p>
        </p:txBody>
      </p:sp>
    </p:spTree>
    <p:extLst>
      <p:ext uri="{BB962C8B-B14F-4D97-AF65-F5344CB8AC3E}">
        <p14:creationId xmlns:p14="http://schemas.microsoft.com/office/powerpoint/2010/main" val="172503210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FBD970FE-1C07-489F-9255-D813C0D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三点照明结果与临时门槛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4E3A5D72-7E63-4304-A50E-4C3FC54D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44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EF8049CE-240E-4B07-B225-80A2F83D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1.40 µm候选仍未满足临时“两端均在±2%内”的条件。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78C51-34CF-4343-B8F0-850C5B494005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5104"/>
                <a:gridCol w="2194560"/>
                <a:gridCol w="2194560"/>
                <a:gridCol w="2194560"/>
                <a:gridCol w="2414016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Wz / µm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wz 0.45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wz 0.55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wz 0.65 µm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最大端点偏差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7.684374%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7.103324%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6.477015%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8.8171%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7.516980%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7.718562%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7.646534%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2.6116%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7.742007%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7.835999%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7.652342%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2.3438%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6122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6275D540-5426-4266-90C7-C376F19E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效率下降时绝对功率仍可能增加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7F75EF7-33B0-4E8C-820A-4770A2D4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45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C720D41C-A9D5-48BD-BB7C-B2243A08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仿真幅度可以线性缩放。实际亮度比较还需统一真实光机输入条件。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595A9-627F-4187-8A78-5A1EE4EEE8E7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3072384"/>
                <a:gridCol w="2743200"/>
                <a:gridCol w="2962656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wz / µm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输入功率 / fW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净导模指标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净导模功率 / fW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5.5702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7.742007%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0.43124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7.835999%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0.53344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8.0453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7.652342%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0.61565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19415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5BE552E6-A2B8-4F7A-8C2B-B802056B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现有检查已经支持的结论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04753903-4C21-4131-AA7B-B629040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46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D29BE8B5-CEC7-407B-9AB8-08A3F3A4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all_validation_gates_pass只涵盖脚本列出的检查范围。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D5FBC-DA65-40AF-AD0C-1A722BF9AA00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72384"/>
                <a:gridCol w="3950208"/>
                <a:gridCol w="3950208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记录证据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能够支持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三点结果完整性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三组模型与汇总存在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照明点已留有结果记录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网格坐标对齐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y/z最大误差为0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复场数据能够对应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复场相干重构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重构误差为0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当前代数处理内部一致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固定基底投影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a/b线性误差约10⁻¹⁷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投影过程内部一致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模式数设置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32模，脚本筛选28模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确认使用的数量与筛选规则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名义相对直接散射约0.0267%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当前分解残差较小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98999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DD7E2570-8191-417E-865D-0C1CD39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当前候选仍需要的验证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9DEC8782-FBEF-4273-BDF2-75D1E18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近期优化  /  47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AF24C56D-D92A-4F49-AC26-D9B7672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先审计影响结论的关键假设，再决定补做哪一个实验。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2AA24-BBBF-494D-99BA-B8EAB606E830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82112"/>
                <a:gridCol w="4608576"/>
                <a:gridCol w="3182112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待核查问题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为什么影响结论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下一动作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导入源物理一致性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二维E/H乘横向包络未必满足严格三维场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检查空域传播与方向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真实导模分类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Re(n_eff)&gt;1依赖截面与外侧介质假设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看束缚场、损耗与边界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当前候选数值误差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部分设置沿用旧模型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选择影响最大的针对性检查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三光斑±2%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最大端点偏差约2.344%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保留事实，核对实际规格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产品适用范围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真实光机、材料与制造能力未完整定义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先建立教学基准与待定清单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50303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771110F2-F6AB-4F61-8C34-21EC5AAE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常见错误：对象与数据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6FA8AD26-1251-47AA-88FD-27F8BDF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48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33D708A2-D959-4A63-9B54-BE3BB48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先把错误归类，再修改最小部分。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E4E77-1A0F-4582-BC17-A268A45A606A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1840"/>
                <a:gridCol w="3950208"/>
                <a:gridCol w="3730752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可能原因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排查动作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导入源没有angle theta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对象类型与属性不匹配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查真实属性与源生成参数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改角度后结果不变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修改了禁用源或读取旧结果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核对enabled和本次run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mode1当成+1级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模式编号与衍射级次混淆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查看模式场和级次标签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矩阵最后3当频点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忽略矢量属性维度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检查x/y/z/f和E/P属性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feval后自动求解？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脚本内容未确认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查是否包含run或load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4405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C35DA129-6252-4F64-A242-CA7B605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常见错误：物理解释与保存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7202B3E8-7127-4132-9DA5-D229A13F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49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F6B0376B-3483-498A-8193-571BBE74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每次记录都应包含模型版本、物理条件和指标定义。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DECA1-BCA8-42BF-8D56-205631639B80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1568"/>
                <a:gridCol w="3840480"/>
                <a:gridCol w="3730752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旧做法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正确处理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对负T取绝对值再相加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丢失传播方向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定义法向与输入输出通道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总场功率减背景功率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忽略相干交叉项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先减复场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把638 nm叫绿光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波长与颜色对应错误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当前638 nm为红光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文件名含FINAL即完成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文件名不代表结果有效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检查结果对象与保存状态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直接switchtolayout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移除当前分析结果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先保存完整结果，再另存设置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49790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D8C4FD95-7D5D-4E0A-85E7-D320C8A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一张实验记录的七个问题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F4D1EA10-47E6-46EF-9231-955DD800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50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EEDF029E-744E-451B-BADB-A3073DD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程序负责执行已经定义的实验，预测和解释由你完成。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75E79-6DAD-4831-B3D8-D1D611ECCB65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7008"/>
                <a:gridCol w="3840480"/>
                <a:gridCol w="5925312"/>
              </a:tblGrid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必须写明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齿高案例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310 nm是否处于稳健中心？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明确FSP和源版本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周期、齿宽、shift、源与测量方法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齿高，固定齿底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上下10 nm是否接近或显著下降？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相同归一化的净导模指标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停止或继续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出现单调趋势则补方向点，夹峰后有限细化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38870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C9CA16F7-C52B-4699-8773-FA6DBBF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四种不同的停止标准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A0E77D8A-C8EE-4AE1-964E-8E48CC9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51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D8D12801-FE84-4688-BD1D-7DC3919E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历史0.02个百分点、1%和±2%都有局部背景，阈值需要随用途解释。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63856-AC46-4739-940B-41072F59A3FC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279392"/>
                <a:gridCol w="3950208"/>
              </a:tblGrid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避免的误判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学习理解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能解释并手动复现一个实验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把看过代码当作已经掌握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局部优化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峰已夹住，额外增益小于有意义的差异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永远追逐小数点后的峰值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数值收敛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固定物理问题后误差满足用途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改变源或几何后仍称收敛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工程验收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明确光谱、角度、制造等规格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把教学阈值当行业标准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75650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5F3B8980-D4D8-4D9A-B722-848BBB4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接下来六节课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D176AE12-B8FB-452D-985D-87A583A0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52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B7341EB6-9C5D-4462-BF45-AA4EC513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约6–9小时是理解练习建议，不含求解等待，也不是整机项目工期。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DEA7E-067D-4825-B103-72DB12D4A377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7824"/>
                <a:gridCol w="4389120"/>
                <a:gridCol w="3072384"/>
                <a:gridCol w="2633472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验收产物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预计主动学习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模型、坐标与光路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一张标注图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60–90分钟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三个百分数的分子分母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功率定义表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60–90分钟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全反射、级次、相位匹配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两道手算题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60–90分钟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导入源只读检查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属性与源记录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60–90分钟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回放高度三点实验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预测及停止理由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60–90分钟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设计三点波长验证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一张实验计划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60–90分钟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3988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216E4A66-3C91-4BBF-9DED-371D4081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下一课的界面检查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FDA7EB6A-CDCD-4BAF-B4A4-BF130E5B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53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AB32ADD3-F85C-400D-8B6D-11C3C72B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本课无需长仿真，验收是你能指着模型讲清光路和测量。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A90C9C3D-9A51-462B-AAC9-221AF1AD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99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先确认没有正在求解的任务，保留任何未保存工程。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打开已保存工程基准，确认对象树含elliptical_gaussian_3d。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指出x、y、z方向，找到光源、光栅与右侧报告面。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读回源启用状态和波长，再解释7.836%的分子与分母。</a:t>
            </a:r>
          </a:p>
        </p:txBody>
      </p:sp>
    </p:spTree>
    <p:extLst>
      <p:ext uri="{BB962C8B-B14F-4D97-AF65-F5344CB8AC3E}">
        <p14:creationId xmlns:p14="http://schemas.microsoft.com/office/powerpoint/2010/main" val="71324537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">
            <a:extLst xmlns:a="http://schemas.openxmlformats.org/drawingml/2006/main">
              <a:ext uri="{FF2B5EF4-FFF2-40B4-BE49-F238E27FC236}">
                <a16:creationId xmlns:a16="http://schemas.microsoft.com/office/drawing/2014/main" id="{AE6FF6CB-9F06-4931-B754-A954C18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只读源检查代码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4851083-71A3-42E0-8382-5B0B37FD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54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D5F3300A-4DE3-48B1-AF0E-5076473A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若对象不存在，先核对文件和对象树。导入源方向从场数据和生成参数核查。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74B55A8B-69C4-49FE-B74B-1E70C01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F4A"/>
                </a:solidFill>
                <a:latin typeface="Consolas"/>
                <a:ea typeface="Consolas"/>
                <a:cs typeface="Consolas"/>
              </a:rPr>
              <a:t>?getnamed("elliptical_gaussian_3d","enabled");</a:t>
            </a:r>
          </a:p>
          <a:p xmlns:a="http://schemas.openxmlformats.org/drawingml/2006/main">
            <a: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F4A"/>
                </a:solidFill>
                <a:latin typeface="Consolas"/>
                <a:ea typeface="Consolas"/>
                <a:cs typeface="Consolas"/>
              </a:rPr>
              <a:t>?getnamed("source","enabled");</a:t>
            </a:r>
          </a:p>
          <a:p xmlns:a="http://schemas.openxmlformats.org/drawingml/2006/main">
            <a: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F4A"/>
                </a:solidFill>
                <a:latin typeface="Consolas"/>
                <a:ea typeface="Consolas"/>
                <a:cs typeface="Consolas"/>
              </a:rPr>
              <a:t>?getnamed("elliptical_gaussian_3d","wavelength start")*1e9;</a:t>
            </a:r>
          </a:p>
          <a:p xmlns:a="http://schemas.openxmlformats.org/drawingml/2006/main">
            <a:pPr algn="l">
              <a:defRPr sz="1800" b="0">
                <a:solidFill>
                  <a:srgbClr val="183F4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83F4A"/>
                </a:solidFill>
                <a:latin typeface="Consolas"/>
                <a:ea typeface="Consolas"/>
                <a:cs typeface="Consolas"/>
              </a:rPr>
              <a:t>?getnamed("elliptical_gaussian_3d","wavelength stop")*1e9;</a:t>
            </a:r>
          </a:p>
        </p:txBody>
      </p:sp>
      <p:sp>
        <p:nvSpPr>
          <p:cNvPr id="5" name="正文">
            <a:extLst xmlns:a="http://schemas.openxmlformats.org/drawingml/2006/main">
              <a:ext uri="{FF2B5EF4-FFF2-40B4-BE49-F238E27FC236}">
                <a16:creationId xmlns:a16="http://schemas.microsoft.com/office/drawing/2014/main" id="{33C2BD5E-55E0-41DD-909B-E751BAC4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rPr>
              <a:t>按保存记录，预期依次为 1、0、638、638。</a:t>
            </a:r>
          </a:p>
          <a:p xmlns:a="http://schemas.openxmlformats.org/drawingml/2006/main">
            <a:pPr algn="l">
              <a:def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rPr>
              <a:t>这是待在当前界面确认的预期，代码不设置参数、不保存、不启动求解。</a:t>
            </a:r>
          </a:p>
        </p:txBody>
      </p:sp>
    </p:spTree>
    <p:extLst>
      <p:ext uri="{BB962C8B-B14F-4D97-AF65-F5344CB8AC3E}">
        <p14:creationId xmlns:p14="http://schemas.microsoft.com/office/powerpoint/2010/main" val="144209406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8CC3266F-1B1C-4418-AD77-C58A1BD8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下一项工程实验：三点波长响应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251F5BB1-0F52-4411-A569-2CD908A8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55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019ACF27-CDF1-4642-A684-4F62703F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只修改导入源的波长标签，不能保证已经形成正确的新频率光束。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86105-C549-4EB6-9A9B-DF957B8A8BC9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3744"/>
                <a:gridCol w="4279392"/>
                <a:gridCol w="4169664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预定做法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必须保持或同步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教学采样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628、638、648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真实产品采用实际光谱范围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保留当前候选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Λ、w、h、shift、Wz与齿数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固定入射角与约定光斑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源相位和E/H对应新频率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参考与材料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每个频率一致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无齿参考、色散与模式基底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保留同一指标定义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输入功率、前后向和导模集合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必要时增加633、643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事先规定补点原因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77814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FA91880A-7559-4591-97EF-4375B3FE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工程验证的后续顺序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CD43D826-0BBF-453A-A848-9E76D88E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56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021298B8-3585-4529-9357-FF099D7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所需误差和规格应先定义，避免没有边界的大规模扫描。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B392A-3FA5-49F2-97D8-82D2FFA6C641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4016"/>
                <a:gridCol w="4389120"/>
                <a:gridCol w="4169664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结果用于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源与名义点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当前场是否按预期注入？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建立可靠比较起点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波长与角度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固定系统条件下接受范围多宽？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联系光机光谱与视场需求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光斑位置和尺寸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装调或照明变化损失多少？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确定输入与装配约束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制造尺寸偏差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实际制造误差是否可接受？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确定几何公差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少量组合角点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多种误差同时出现会怎样？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评估最差情况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针对性收敛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数值误差是否足够小？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限定结论置信范围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2925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73C7262C-9097-40A5-9F9D-6EA7EC9C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后续 AR 光学系统课程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43D9BC93-3904-4773-BB9F-2C1BAE7D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57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9BA698EE-16A4-4BDA-A259-B3FB60C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先建立系统问题，再决定局部光栅需要补充什么性能。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BDCCF-318C-439F-A09E-CB9DA357A035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389120"/>
                <a:gridCol w="3840480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要理解的关系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小练习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k空间与TIR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输入角域与波导可传播区域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画允许传播的角域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出耦与扩瞳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传播次数、提取比例和出瞳复制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一维简化功率分配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眼盒与均匀性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眼位置与视场共同决定可见图像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定义空间和角度采样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RGB共视场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色散与不同波长光路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比较三个波长方向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鬼影和彩虹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寄生路径与环境入射光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列出可疑传播路径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成像质量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波前、像差和系统传递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建立简化成像链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66490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6820E3D4-C16F-4130-8909-4F57B059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自测：参数与数字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64DA83EE-5C3B-4539-A220-7295103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58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2D55CB84-EFD0-4019-A735-91F945F3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答案和解释见备注。先计算，再核对单位和分母。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C6EB0687-207D-4502-8D1E-40193566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99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532 nm、n=1.8、正入射、内部50°，周期约多少？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190 nm齿宽与328.75 nm周期，对应多少占空比？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7.1033%提高到7.8360%，相差多少个百分点？相对提升多少？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7.836%、6.119%、78.084%各自除以什么？</a:t>
            </a:r>
          </a:p>
        </p:txBody>
      </p:sp>
    </p:spTree>
    <p:extLst>
      <p:ext uri="{BB962C8B-B14F-4D97-AF65-F5344CB8AC3E}">
        <p14:creationId xmlns:p14="http://schemas.microsoft.com/office/powerpoint/2010/main" val="121011834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CBB88EA1-148B-4F83-8987-F9256A38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自测：物理与实验判断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4BF57C10-5793-4BE4-84B8-F85A4A04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后续学习  /  59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26E4244E-00C0-465B-9035-3E56B811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掌握的标准是能解释理由，并指出对应对象、字段或实验。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91AC8DBA-FD92-43B5-BF20-691C2F4B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6299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310、300、290 nm结果依次提高，能否宣布290 nm最优？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三个报告面的模式读数差很大，下一步应该检查什么？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先减总功率与参考功率，为什么可能得不到散射功率？</a:t>
            </a:r>
          </a:p>
          <a:p xmlns:a="http://schemas.openxmlformats.org/drawingml/2006/main">
            <a:pPr marL="228600" indent="-114300" algn="l">
              <a:spcAft>
                <a:spcPts val="2400"/>
              </a:spcAft>
              <a:buChar char="•"/>
              <a:defRPr sz="2325" b="0">
                <a:solidFill>
                  <a:srgbClr val="29444B"/>
                </a:solidFill>
                <a:latin typeface="Microsoft YaHei"/>
                <a:ea typeface="Microsoft YaHei"/>
                <a:cs typeface="Microsoft YaHei"/>
              </a:defRPr>
            </a:pPr>
            <a:r>
              <a:t>脚本检查全通过，为什么±2%照明条件仍可能失败？</a:t>
            </a:r>
          </a:p>
        </p:txBody>
      </p:sp>
    </p:spTree>
    <p:extLst>
      <p:ext uri="{BB962C8B-B14F-4D97-AF65-F5344CB8AC3E}">
        <p14:creationId xmlns:p14="http://schemas.microsoft.com/office/powerpoint/2010/main" val="168871297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0680125C-2B6C-4C70-AAD2-328F338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保存文件与恢复顺序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8452882C-EE31-4088-B033-40EA253B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查阅附录  /  60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7B04A579-6CE3-49E8-8CAB-F3F988F6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优先入口与完整绝对路径放在本页备注和已有学习导航中。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3AEF2-6FB6-4A99-B5A9-663285B92AF8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059936"/>
                <a:gridCol w="4169664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文件类型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恢复时的作用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.fsp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模型和可能存在的仿真结果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核查当前对象与结果状态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.lsf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可执行的Lumerical脚本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先读内容，再决定执行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.ldf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脚本变量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配合模型版本理解数据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.json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数值结果和检查字段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精确读数与重新计算指标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.md / 学习导航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结论、限制与路径索引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恢复历史理由和下一动作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 / 已算 / 后处理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三种不同保存目的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按需要选择，避免误覆盖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6709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E5DB20C4-73AF-436D-9C33-B016E90F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主要来源与查阅方法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9A836E63-72B2-4AC6-8E72-A9105FF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查阅附录  /  61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8686A643-E815-4626-8B5E-CA3F4C20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历史结论保留当时条件。发生后续更正时，优先核对原始数据和定义。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53E65-16AC-4BA9-91D4-CF9406579404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72384"/>
                <a:gridCol w="4718304"/>
                <a:gridCol w="3182112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用于核对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完整学习手册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物理解释、历史修正和课程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同项目学习总档案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历史阶段报告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当时的参数与决策理由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学习导航的历史原文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Stage292–298 JSON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三光斑精确数值与检查范围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D:/Codex/Kai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Ansys RCWA文档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结果归一化和周期假设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官方页面，链接见备注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Ansys数据与源文档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维度、积分、导入场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官方页面，链接见备注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Ansys模式与收敛文档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模式分解及数值误差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官方页面，链接见备注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89379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B867B0B8-2069-4E55-B241-10D910D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阶段目录：入门至 Stage104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86FEF3B8-7D53-425A-ADDB-3859EFB3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查阅附录  /  62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DCB376AA-FD3F-46B5-B12B-4DFF5A07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对应原文件可在学习导航中按Stage检索。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8838-BD9A-4C33-A34E-CD51E0C70CAE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157216"/>
                <a:gridCol w="3621024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复习重点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早期至7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532 nm、界面与初始模型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单位、级次与对象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8–45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有限齿、模式读取与层映射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测量有效性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46–68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几何、网格、单变量公差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优化与验证区别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69–80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组合公差、角度与波长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81–90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Bloch色散交叉验证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峰的物理来源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91–104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功率预算与倾斜齿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方向分配与比较条件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68891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E299FB74-A409-4CAB-96B5-63CA6784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阶段目录：Stage105–199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53CE4077-0D76-4AEA-B14A-38D56892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查阅附录  /  63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2BD5AE9F-FC2D-48E7-B5FB-AD1CCFCB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二维历史结果为学习案例，当前三维候选需要对应验证。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73FD5-9280-4A0A-BCC4-C64D615F806E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157216"/>
                <a:gridCol w="3621024"/>
              </a:tblGrid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复习重点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105–112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启用源纠错与联合峰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实际参与求解的源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113–143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能量、报告面、稳健角点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公差与测量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144–158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齿数扩展与新相位匹配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有限覆盖改变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159–174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固定齿底与二维收敛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受控几何变化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175–181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带宽审计与单色重建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激励与归一化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182–199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二维候选、带宽和色散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结论适用范围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8723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0D8C1335-96A3-4236-A592-DD30FF8D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阶段目录：Stage200–298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625D7740-BA48-470D-9470-F212928C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查阅附录  /  64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93DC8DC4-38EB-4E2D-B21D-391DDC58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接下来先完成理解与关键假设审计，再执行有限范围的工程验证。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E267C-56B0-4213-B505-CD0D1A73D39F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157216"/>
                <a:gridCol w="3621024"/>
              </a:tblGrid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复习重点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200–206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三维周期桥接与模式数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跨维度差异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207–220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有限宽与背景分离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复场与固定基底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221–229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有限椭圆导入源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230–241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横向宽度初筛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局部候选条件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242–262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齿高从310到237 nm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三点趋势与夹峰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263–280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齿宽和顶部偏移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目标权衡与停止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281–298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三光斑与1.40 µm候选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照明敏感性和剩余验证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96918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CB14045C-1798-4E5B-B8A4-5EAB77F5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F4A"/>
                </a:solidFill>
                <a:latin typeface="Microsoft YaHei"/>
                <a:ea typeface="Microsoft YaHei"/>
                <a:cs typeface="Microsoft YaHei"/>
              </a:rPr>
              <a:t>常用术语速查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A4082592-5193-45DD-8B0A-B0E87B00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B70"/>
                </a:solidFill>
                <a:latin typeface="Microsoft YaHei"/>
                <a:ea typeface="Microsoft YaHei"/>
                <a:cs typeface="Microsoft YaHei"/>
              </a:rPr>
              <a:t>查阅附录  /  65 — 65</a:t>
            </a:r>
          </a:p>
        </p:txBody>
      </p:sp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A8EDCCE9-DCEC-4B35-A3A2-5B06E843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7E83"/>
                </a:solidFill>
                <a:latin typeface="Microsoft YaHei"/>
                <a:ea typeface="Microsoft YaHei"/>
                <a:cs typeface="Microsoft YaHei"/>
              </a:rPr>
              <a:t>下一步：解释一个已有结果，手动复现一个小实验，再独立决定下一点。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AEA16-7755-4557-906A-E05AC9F2F171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4169664"/>
                <a:gridCol w="4059936"/>
              </a:tblGrid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一句话含义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3F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常见混淆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T w="6668">
                      <a:solidFill>
                        <a:srgbClr val="D7DEDC"/>
                      </a:solidFill>
                    </a:lnT>
                    <a:lnB w="6668">
                      <a:solidFill>
                        <a:srgbClr val="D7DEDC"/>
                      </a:solidFill>
                    </a:lnB>
                    <a:solidFill>
                      <a:srgbClr val="DBE7E7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 / duty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 / 齿宽占周期的比例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固定齿宽与固定占空比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/ n_eff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材料折射率 / 模式有效折射率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用材料n代替导模n_eff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 / TM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基于坐标和传播的偏振分类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与mode编号混用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Wz / wz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光栅总宽 / 光束场半径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几何和输入条件混用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T_forward / net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前向功率 / 前向减后向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忽略后向与分母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FOV / Eyebox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可见角范围 / 可见眼位置范围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用局部效率代替系统表现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0F2EE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收敛 / 公差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7DEDC"/>
                      </a:solidFill>
                    </a:lnL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数值稳定性 / 实物偏差敏感性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94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把数值旋钮当器件变量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7DEDC"/>
                      </a:solidFill>
                    </a:lnR>
                    <a:lnB w="6668">
                      <a:solidFill>
                        <a:srgbClr val="D7DE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015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2026-10-23T09:45:56.1490000Z</dcterms:created>
  <dcterms:modified xsi:type="dcterms:W3CDTF">2026-10-23T09:45:56.1490000Z</dcterms:modified>
</coreProperties>
</file>